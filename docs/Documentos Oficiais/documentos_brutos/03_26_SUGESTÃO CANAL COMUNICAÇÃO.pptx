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60" d="100"/>
          <a:sy n="60" d="100"/>
        </p:scale>
        <p:origin x="33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E737A1-6FC8-71BC-0FE1-2F7722131C9F}"/>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F2AE81CB-5215-10AB-6CFA-6DA3A1E5D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8A6FBD34-5FA1-01AE-6A12-A9A91D998A1E}"/>
              </a:ext>
            </a:extLst>
          </p:cNvPr>
          <p:cNvSpPr>
            <a:spLocks noGrp="1"/>
          </p:cNvSpPr>
          <p:nvPr>
            <p:ph type="dt" sz="half" idx="10"/>
          </p:nvPr>
        </p:nvSpPr>
        <p:spPr/>
        <p:txBody>
          <a:bodyPr/>
          <a:lstStyle/>
          <a:p>
            <a:fld id="{D29A6412-A4CF-424D-A8BA-1550648234BE}" type="datetimeFigureOut">
              <a:rPr lang="pt-BR" smtClean="0"/>
              <a:t>28/08/2025</a:t>
            </a:fld>
            <a:endParaRPr lang="pt-BR"/>
          </a:p>
        </p:txBody>
      </p:sp>
      <p:sp>
        <p:nvSpPr>
          <p:cNvPr id="5" name="Espaço Reservado para Rodapé 4">
            <a:extLst>
              <a:ext uri="{FF2B5EF4-FFF2-40B4-BE49-F238E27FC236}">
                <a16:creationId xmlns:a16="http://schemas.microsoft.com/office/drawing/2014/main" id="{DE21D1A6-6F5C-AF9A-2344-25489CF24E4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3890612-7EF0-7D03-68FC-BE526D0ED249}"/>
              </a:ext>
            </a:extLst>
          </p:cNvPr>
          <p:cNvSpPr>
            <a:spLocks noGrp="1"/>
          </p:cNvSpPr>
          <p:nvPr>
            <p:ph type="sldNum" sz="quarter" idx="12"/>
          </p:nvPr>
        </p:nvSpPr>
        <p:spPr/>
        <p:txBody>
          <a:bodyPr/>
          <a:lstStyle/>
          <a:p>
            <a:fld id="{BD8C11F2-55D0-49BA-8772-1D4A21D5EF60}" type="slidenum">
              <a:rPr lang="pt-BR" smtClean="0"/>
              <a:t>‹nº›</a:t>
            </a:fld>
            <a:endParaRPr lang="pt-BR"/>
          </a:p>
        </p:txBody>
      </p:sp>
    </p:spTree>
    <p:extLst>
      <p:ext uri="{BB962C8B-B14F-4D97-AF65-F5344CB8AC3E}">
        <p14:creationId xmlns:p14="http://schemas.microsoft.com/office/powerpoint/2010/main" val="2083391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F6E0F4-54A2-3A7C-6330-E1230CA5806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F2F9C1E5-1E2F-E360-C21B-7CCCA27EF7BF}"/>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17D01D5-0CD7-5C30-23F5-F1A8026C88C3}"/>
              </a:ext>
            </a:extLst>
          </p:cNvPr>
          <p:cNvSpPr>
            <a:spLocks noGrp="1"/>
          </p:cNvSpPr>
          <p:nvPr>
            <p:ph type="dt" sz="half" idx="10"/>
          </p:nvPr>
        </p:nvSpPr>
        <p:spPr/>
        <p:txBody>
          <a:bodyPr/>
          <a:lstStyle/>
          <a:p>
            <a:fld id="{D29A6412-A4CF-424D-A8BA-1550648234BE}" type="datetimeFigureOut">
              <a:rPr lang="pt-BR" smtClean="0"/>
              <a:t>28/08/2025</a:t>
            </a:fld>
            <a:endParaRPr lang="pt-BR"/>
          </a:p>
        </p:txBody>
      </p:sp>
      <p:sp>
        <p:nvSpPr>
          <p:cNvPr id="5" name="Espaço Reservado para Rodapé 4">
            <a:extLst>
              <a:ext uri="{FF2B5EF4-FFF2-40B4-BE49-F238E27FC236}">
                <a16:creationId xmlns:a16="http://schemas.microsoft.com/office/drawing/2014/main" id="{DD5D8E3B-C418-DCC9-EB94-BF7E169EB9C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462D83C-A478-4074-86C5-993D2D035F79}"/>
              </a:ext>
            </a:extLst>
          </p:cNvPr>
          <p:cNvSpPr>
            <a:spLocks noGrp="1"/>
          </p:cNvSpPr>
          <p:nvPr>
            <p:ph type="sldNum" sz="quarter" idx="12"/>
          </p:nvPr>
        </p:nvSpPr>
        <p:spPr/>
        <p:txBody>
          <a:bodyPr/>
          <a:lstStyle/>
          <a:p>
            <a:fld id="{BD8C11F2-55D0-49BA-8772-1D4A21D5EF60}" type="slidenum">
              <a:rPr lang="pt-BR" smtClean="0"/>
              <a:t>‹nº›</a:t>
            </a:fld>
            <a:endParaRPr lang="pt-BR"/>
          </a:p>
        </p:txBody>
      </p:sp>
    </p:spTree>
    <p:extLst>
      <p:ext uri="{BB962C8B-B14F-4D97-AF65-F5344CB8AC3E}">
        <p14:creationId xmlns:p14="http://schemas.microsoft.com/office/powerpoint/2010/main" val="92450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CA4BCD-6430-1BA6-11CF-F82B36D8EE4A}"/>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6AD1AD65-366A-FB47-3F37-456DAEF891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6B89BE18-F064-6575-211F-3393E0CAD843}"/>
              </a:ext>
            </a:extLst>
          </p:cNvPr>
          <p:cNvSpPr>
            <a:spLocks noGrp="1"/>
          </p:cNvSpPr>
          <p:nvPr>
            <p:ph type="dt" sz="half" idx="10"/>
          </p:nvPr>
        </p:nvSpPr>
        <p:spPr/>
        <p:txBody>
          <a:bodyPr/>
          <a:lstStyle/>
          <a:p>
            <a:fld id="{D29A6412-A4CF-424D-A8BA-1550648234BE}" type="datetimeFigureOut">
              <a:rPr lang="pt-BR" smtClean="0"/>
              <a:t>28/08/2025</a:t>
            </a:fld>
            <a:endParaRPr lang="pt-BR"/>
          </a:p>
        </p:txBody>
      </p:sp>
      <p:sp>
        <p:nvSpPr>
          <p:cNvPr id="5" name="Espaço Reservado para Rodapé 4">
            <a:extLst>
              <a:ext uri="{FF2B5EF4-FFF2-40B4-BE49-F238E27FC236}">
                <a16:creationId xmlns:a16="http://schemas.microsoft.com/office/drawing/2014/main" id="{01F89C0E-A625-CB65-9062-3724CA4CE9A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C19FCB0-3068-C7B9-04C0-90C3509A447C}"/>
              </a:ext>
            </a:extLst>
          </p:cNvPr>
          <p:cNvSpPr>
            <a:spLocks noGrp="1"/>
          </p:cNvSpPr>
          <p:nvPr>
            <p:ph type="sldNum" sz="quarter" idx="12"/>
          </p:nvPr>
        </p:nvSpPr>
        <p:spPr/>
        <p:txBody>
          <a:bodyPr/>
          <a:lstStyle/>
          <a:p>
            <a:fld id="{BD8C11F2-55D0-49BA-8772-1D4A21D5EF60}" type="slidenum">
              <a:rPr lang="pt-BR" smtClean="0"/>
              <a:t>‹nº›</a:t>
            </a:fld>
            <a:endParaRPr lang="pt-BR"/>
          </a:p>
        </p:txBody>
      </p:sp>
    </p:spTree>
    <p:extLst>
      <p:ext uri="{BB962C8B-B14F-4D97-AF65-F5344CB8AC3E}">
        <p14:creationId xmlns:p14="http://schemas.microsoft.com/office/powerpoint/2010/main" val="1842057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750D9-EAAA-9C50-FC8E-FF4D0BEB3A7D}"/>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534A69F4-7154-2335-2C10-A3595BB8CAF2}"/>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80C2C3A6-082F-0E55-90F2-A9A2D906C76B}"/>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A057EBB-0C18-B5C7-ACC1-7026F5A93910}"/>
              </a:ext>
            </a:extLst>
          </p:cNvPr>
          <p:cNvSpPr>
            <a:spLocks noGrp="1"/>
          </p:cNvSpPr>
          <p:nvPr>
            <p:ph type="dt" sz="half" idx="10"/>
          </p:nvPr>
        </p:nvSpPr>
        <p:spPr/>
        <p:txBody>
          <a:bodyPr/>
          <a:lstStyle/>
          <a:p>
            <a:fld id="{D29A6412-A4CF-424D-A8BA-1550648234BE}" type="datetimeFigureOut">
              <a:rPr lang="pt-BR" smtClean="0"/>
              <a:t>28/08/2025</a:t>
            </a:fld>
            <a:endParaRPr lang="pt-BR"/>
          </a:p>
        </p:txBody>
      </p:sp>
      <p:sp>
        <p:nvSpPr>
          <p:cNvPr id="6" name="Espaço Reservado para Rodapé 5">
            <a:extLst>
              <a:ext uri="{FF2B5EF4-FFF2-40B4-BE49-F238E27FC236}">
                <a16:creationId xmlns:a16="http://schemas.microsoft.com/office/drawing/2014/main" id="{DDB171CE-3332-F719-CE47-1FC4DADB4C4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6B27906-485E-9297-E315-F55A8E2F2C82}"/>
              </a:ext>
            </a:extLst>
          </p:cNvPr>
          <p:cNvSpPr>
            <a:spLocks noGrp="1"/>
          </p:cNvSpPr>
          <p:nvPr>
            <p:ph type="sldNum" sz="quarter" idx="12"/>
          </p:nvPr>
        </p:nvSpPr>
        <p:spPr/>
        <p:txBody>
          <a:bodyPr/>
          <a:lstStyle/>
          <a:p>
            <a:fld id="{BD8C11F2-55D0-49BA-8772-1D4A21D5EF60}" type="slidenum">
              <a:rPr lang="pt-BR" smtClean="0"/>
              <a:t>‹nº›</a:t>
            </a:fld>
            <a:endParaRPr lang="pt-BR"/>
          </a:p>
        </p:txBody>
      </p:sp>
    </p:spTree>
    <p:extLst>
      <p:ext uri="{BB962C8B-B14F-4D97-AF65-F5344CB8AC3E}">
        <p14:creationId xmlns:p14="http://schemas.microsoft.com/office/powerpoint/2010/main" val="2711670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0BB270-5905-23DE-A84F-4269EC965130}"/>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9937A613-2E78-69A6-FA80-57A6EBC3CE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5489EF7A-3DCE-FD6C-0700-FB9AE2376C82}"/>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4FD356A-84B5-DD7C-5D84-67C52F968B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3C5A30E0-1AD0-D3A7-7358-7C9337785236}"/>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86743199-8013-782F-DAFE-75152A14FA93}"/>
              </a:ext>
            </a:extLst>
          </p:cNvPr>
          <p:cNvSpPr>
            <a:spLocks noGrp="1"/>
          </p:cNvSpPr>
          <p:nvPr>
            <p:ph type="dt" sz="half" idx="10"/>
          </p:nvPr>
        </p:nvSpPr>
        <p:spPr/>
        <p:txBody>
          <a:bodyPr/>
          <a:lstStyle/>
          <a:p>
            <a:fld id="{D29A6412-A4CF-424D-A8BA-1550648234BE}" type="datetimeFigureOut">
              <a:rPr lang="pt-BR" smtClean="0"/>
              <a:t>28/08/2025</a:t>
            </a:fld>
            <a:endParaRPr lang="pt-BR"/>
          </a:p>
        </p:txBody>
      </p:sp>
      <p:sp>
        <p:nvSpPr>
          <p:cNvPr id="8" name="Espaço Reservado para Rodapé 7">
            <a:extLst>
              <a:ext uri="{FF2B5EF4-FFF2-40B4-BE49-F238E27FC236}">
                <a16:creationId xmlns:a16="http://schemas.microsoft.com/office/drawing/2014/main" id="{DF60FE36-0E6D-A0E4-AB10-D1C77A425C58}"/>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FAC3D323-E419-F32C-E4E5-522FD1C067C9}"/>
              </a:ext>
            </a:extLst>
          </p:cNvPr>
          <p:cNvSpPr>
            <a:spLocks noGrp="1"/>
          </p:cNvSpPr>
          <p:nvPr>
            <p:ph type="sldNum" sz="quarter" idx="12"/>
          </p:nvPr>
        </p:nvSpPr>
        <p:spPr/>
        <p:txBody>
          <a:bodyPr/>
          <a:lstStyle/>
          <a:p>
            <a:fld id="{BD8C11F2-55D0-49BA-8772-1D4A21D5EF60}" type="slidenum">
              <a:rPr lang="pt-BR" smtClean="0"/>
              <a:t>‹nº›</a:t>
            </a:fld>
            <a:endParaRPr lang="pt-BR"/>
          </a:p>
        </p:txBody>
      </p:sp>
    </p:spTree>
    <p:extLst>
      <p:ext uri="{BB962C8B-B14F-4D97-AF65-F5344CB8AC3E}">
        <p14:creationId xmlns:p14="http://schemas.microsoft.com/office/powerpoint/2010/main" val="739757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5DB938-5843-3036-49B8-2F1DD58240A6}"/>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22A603C-E6CD-7885-2C85-F6E60E417282}"/>
              </a:ext>
            </a:extLst>
          </p:cNvPr>
          <p:cNvSpPr>
            <a:spLocks noGrp="1"/>
          </p:cNvSpPr>
          <p:nvPr>
            <p:ph type="dt" sz="half" idx="10"/>
          </p:nvPr>
        </p:nvSpPr>
        <p:spPr/>
        <p:txBody>
          <a:bodyPr/>
          <a:lstStyle/>
          <a:p>
            <a:fld id="{D29A6412-A4CF-424D-A8BA-1550648234BE}" type="datetimeFigureOut">
              <a:rPr lang="pt-BR" smtClean="0"/>
              <a:t>28/08/2025</a:t>
            </a:fld>
            <a:endParaRPr lang="pt-BR"/>
          </a:p>
        </p:txBody>
      </p:sp>
      <p:sp>
        <p:nvSpPr>
          <p:cNvPr id="4" name="Espaço Reservado para Rodapé 3">
            <a:extLst>
              <a:ext uri="{FF2B5EF4-FFF2-40B4-BE49-F238E27FC236}">
                <a16:creationId xmlns:a16="http://schemas.microsoft.com/office/drawing/2014/main" id="{B196D86C-2FD9-E11B-71E0-237D01A5E7FA}"/>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B99CA58C-0147-E72F-AC65-B0BE73D072BD}"/>
              </a:ext>
            </a:extLst>
          </p:cNvPr>
          <p:cNvSpPr>
            <a:spLocks noGrp="1"/>
          </p:cNvSpPr>
          <p:nvPr>
            <p:ph type="sldNum" sz="quarter" idx="12"/>
          </p:nvPr>
        </p:nvSpPr>
        <p:spPr/>
        <p:txBody>
          <a:bodyPr/>
          <a:lstStyle/>
          <a:p>
            <a:fld id="{BD8C11F2-55D0-49BA-8772-1D4A21D5EF60}" type="slidenum">
              <a:rPr lang="pt-BR" smtClean="0"/>
              <a:t>‹nº›</a:t>
            </a:fld>
            <a:endParaRPr lang="pt-BR"/>
          </a:p>
        </p:txBody>
      </p:sp>
    </p:spTree>
    <p:extLst>
      <p:ext uri="{BB962C8B-B14F-4D97-AF65-F5344CB8AC3E}">
        <p14:creationId xmlns:p14="http://schemas.microsoft.com/office/powerpoint/2010/main" val="3061365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27206EF4-A338-2093-0BBE-F8F316853AD3}"/>
              </a:ext>
            </a:extLst>
          </p:cNvPr>
          <p:cNvSpPr>
            <a:spLocks noGrp="1"/>
          </p:cNvSpPr>
          <p:nvPr>
            <p:ph type="dt" sz="half" idx="10"/>
          </p:nvPr>
        </p:nvSpPr>
        <p:spPr/>
        <p:txBody>
          <a:bodyPr/>
          <a:lstStyle/>
          <a:p>
            <a:fld id="{D29A6412-A4CF-424D-A8BA-1550648234BE}" type="datetimeFigureOut">
              <a:rPr lang="pt-BR" smtClean="0"/>
              <a:t>28/08/2025</a:t>
            </a:fld>
            <a:endParaRPr lang="pt-BR"/>
          </a:p>
        </p:txBody>
      </p:sp>
      <p:sp>
        <p:nvSpPr>
          <p:cNvPr id="3" name="Espaço Reservado para Rodapé 2">
            <a:extLst>
              <a:ext uri="{FF2B5EF4-FFF2-40B4-BE49-F238E27FC236}">
                <a16:creationId xmlns:a16="http://schemas.microsoft.com/office/drawing/2014/main" id="{D595EFA4-031D-95EC-AE63-63B57FD00D88}"/>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0A184FBB-AA7C-A616-AD72-21785EB30B5E}"/>
              </a:ext>
            </a:extLst>
          </p:cNvPr>
          <p:cNvSpPr>
            <a:spLocks noGrp="1"/>
          </p:cNvSpPr>
          <p:nvPr>
            <p:ph type="sldNum" sz="quarter" idx="12"/>
          </p:nvPr>
        </p:nvSpPr>
        <p:spPr/>
        <p:txBody>
          <a:bodyPr/>
          <a:lstStyle/>
          <a:p>
            <a:fld id="{BD8C11F2-55D0-49BA-8772-1D4A21D5EF60}" type="slidenum">
              <a:rPr lang="pt-BR" smtClean="0"/>
              <a:t>‹nº›</a:t>
            </a:fld>
            <a:endParaRPr lang="pt-BR"/>
          </a:p>
        </p:txBody>
      </p:sp>
    </p:spTree>
    <p:extLst>
      <p:ext uri="{BB962C8B-B14F-4D97-AF65-F5344CB8AC3E}">
        <p14:creationId xmlns:p14="http://schemas.microsoft.com/office/powerpoint/2010/main" val="477546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680E8F-807F-BA3B-C089-56D6FCBABC38}"/>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747C286F-B691-B82B-037A-B168D92BD6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2EE88D8E-F64A-3A87-A500-58CD8C1A37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DA982E8-293A-065C-CABB-BA7032A61196}"/>
              </a:ext>
            </a:extLst>
          </p:cNvPr>
          <p:cNvSpPr>
            <a:spLocks noGrp="1"/>
          </p:cNvSpPr>
          <p:nvPr>
            <p:ph type="dt" sz="half" idx="10"/>
          </p:nvPr>
        </p:nvSpPr>
        <p:spPr/>
        <p:txBody>
          <a:bodyPr/>
          <a:lstStyle/>
          <a:p>
            <a:fld id="{D29A6412-A4CF-424D-A8BA-1550648234BE}" type="datetimeFigureOut">
              <a:rPr lang="pt-BR" smtClean="0"/>
              <a:t>28/08/2025</a:t>
            </a:fld>
            <a:endParaRPr lang="pt-BR"/>
          </a:p>
        </p:txBody>
      </p:sp>
      <p:sp>
        <p:nvSpPr>
          <p:cNvPr id="6" name="Espaço Reservado para Rodapé 5">
            <a:extLst>
              <a:ext uri="{FF2B5EF4-FFF2-40B4-BE49-F238E27FC236}">
                <a16:creationId xmlns:a16="http://schemas.microsoft.com/office/drawing/2014/main" id="{484AA715-74AF-CD3A-BA14-060E77169F0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BA5291D-3CDD-DAEE-01FC-AA734228E52B}"/>
              </a:ext>
            </a:extLst>
          </p:cNvPr>
          <p:cNvSpPr>
            <a:spLocks noGrp="1"/>
          </p:cNvSpPr>
          <p:nvPr>
            <p:ph type="sldNum" sz="quarter" idx="12"/>
          </p:nvPr>
        </p:nvSpPr>
        <p:spPr/>
        <p:txBody>
          <a:bodyPr/>
          <a:lstStyle/>
          <a:p>
            <a:fld id="{BD8C11F2-55D0-49BA-8772-1D4A21D5EF60}" type="slidenum">
              <a:rPr lang="pt-BR" smtClean="0"/>
              <a:t>‹nº›</a:t>
            </a:fld>
            <a:endParaRPr lang="pt-BR"/>
          </a:p>
        </p:txBody>
      </p:sp>
    </p:spTree>
    <p:extLst>
      <p:ext uri="{BB962C8B-B14F-4D97-AF65-F5344CB8AC3E}">
        <p14:creationId xmlns:p14="http://schemas.microsoft.com/office/powerpoint/2010/main" val="1490395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EBAF97-9C49-0531-F4DD-48680C7D157D}"/>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1B947FB3-BCE9-39EC-6BCC-DCEFAF4BCD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5C205A03-C1AE-6D75-7E36-BF271386D4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75C34DAB-C424-05AE-0C72-7E7BDF2C01D4}"/>
              </a:ext>
            </a:extLst>
          </p:cNvPr>
          <p:cNvSpPr>
            <a:spLocks noGrp="1"/>
          </p:cNvSpPr>
          <p:nvPr>
            <p:ph type="dt" sz="half" idx="10"/>
          </p:nvPr>
        </p:nvSpPr>
        <p:spPr/>
        <p:txBody>
          <a:bodyPr/>
          <a:lstStyle/>
          <a:p>
            <a:fld id="{D29A6412-A4CF-424D-A8BA-1550648234BE}" type="datetimeFigureOut">
              <a:rPr lang="pt-BR" smtClean="0"/>
              <a:t>28/08/2025</a:t>
            </a:fld>
            <a:endParaRPr lang="pt-BR"/>
          </a:p>
        </p:txBody>
      </p:sp>
      <p:sp>
        <p:nvSpPr>
          <p:cNvPr id="6" name="Espaço Reservado para Rodapé 5">
            <a:extLst>
              <a:ext uri="{FF2B5EF4-FFF2-40B4-BE49-F238E27FC236}">
                <a16:creationId xmlns:a16="http://schemas.microsoft.com/office/drawing/2014/main" id="{AD17A406-4F48-DB9E-A2F8-BCA8F0F15E4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085108C-E7E8-1271-7D4E-EEED1DA51033}"/>
              </a:ext>
            </a:extLst>
          </p:cNvPr>
          <p:cNvSpPr>
            <a:spLocks noGrp="1"/>
          </p:cNvSpPr>
          <p:nvPr>
            <p:ph type="sldNum" sz="quarter" idx="12"/>
          </p:nvPr>
        </p:nvSpPr>
        <p:spPr/>
        <p:txBody>
          <a:bodyPr/>
          <a:lstStyle/>
          <a:p>
            <a:fld id="{BD8C11F2-55D0-49BA-8772-1D4A21D5EF60}" type="slidenum">
              <a:rPr lang="pt-BR" smtClean="0"/>
              <a:t>‹nº›</a:t>
            </a:fld>
            <a:endParaRPr lang="pt-BR"/>
          </a:p>
        </p:txBody>
      </p:sp>
    </p:spTree>
    <p:extLst>
      <p:ext uri="{BB962C8B-B14F-4D97-AF65-F5344CB8AC3E}">
        <p14:creationId xmlns:p14="http://schemas.microsoft.com/office/powerpoint/2010/main" val="1685572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8FD594-1226-898F-342B-1E59A8AC81DE}"/>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5562C7F5-1244-70FC-429F-E3C52BA6D7DF}"/>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CA1D904-7290-0CD2-0C91-1FCDB9E900C7}"/>
              </a:ext>
            </a:extLst>
          </p:cNvPr>
          <p:cNvSpPr>
            <a:spLocks noGrp="1"/>
          </p:cNvSpPr>
          <p:nvPr>
            <p:ph type="dt" sz="half" idx="10"/>
          </p:nvPr>
        </p:nvSpPr>
        <p:spPr/>
        <p:txBody>
          <a:bodyPr/>
          <a:lstStyle/>
          <a:p>
            <a:fld id="{D29A6412-A4CF-424D-A8BA-1550648234BE}" type="datetimeFigureOut">
              <a:rPr lang="pt-BR" smtClean="0"/>
              <a:t>28/08/2025</a:t>
            </a:fld>
            <a:endParaRPr lang="pt-BR"/>
          </a:p>
        </p:txBody>
      </p:sp>
      <p:sp>
        <p:nvSpPr>
          <p:cNvPr id="5" name="Espaço Reservado para Rodapé 4">
            <a:extLst>
              <a:ext uri="{FF2B5EF4-FFF2-40B4-BE49-F238E27FC236}">
                <a16:creationId xmlns:a16="http://schemas.microsoft.com/office/drawing/2014/main" id="{052B7758-E6AF-6195-8F47-59A5171E85E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1764620-0C7B-7A04-3643-19892D32CE8E}"/>
              </a:ext>
            </a:extLst>
          </p:cNvPr>
          <p:cNvSpPr>
            <a:spLocks noGrp="1"/>
          </p:cNvSpPr>
          <p:nvPr>
            <p:ph type="sldNum" sz="quarter" idx="12"/>
          </p:nvPr>
        </p:nvSpPr>
        <p:spPr/>
        <p:txBody>
          <a:bodyPr/>
          <a:lstStyle/>
          <a:p>
            <a:fld id="{BD8C11F2-55D0-49BA-8772-1D4A21D5EF60}" type="slidenum">
              <a:rPr lang="pt-BR" smtClean="0"/>
              <a:t>‹nº›</a:t>
            </a:fld>
            <a:endParaRPr lang="pt-BR"/>
          </a:p>
        </p:txBody>
      </p:sp>
    </p:spTree>
    <p:extLst>
      <p:ext uri="{BB962C8B-B14F-4D97-AF65-F5344CB8AC3E}">
        <p14:creationId xmlns:p14="http://schemas.microsoft.com/office/powerpoint/2010/main" val="3172205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65C0AC4-135E-92F9-5DC3-9CE3B42B1CFD}"/>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7D624AD0-CBC8-857A-851F-326FB44DD214}"/>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E9F44A4-5A82-2D39-FFA0-8B6BE7BAF140}"/>
              </a:ext>
            </a:extLst>
          </p:cNvPr>
          <p:cNvSpPr>
            <a:spLocks noGrp="1"/>
          </p:cNvSpPr>
          <p:nvPr>
            <p:ph type="dt" sz="half" idx="10"/>
          </p:nvPr>
        </p:nvSpPr>
        <p:spPr/>
        <p:txBody>
          <a:bodyPr/>
          <a:lstStyle/>
          <a:p>
            <a:fld id="{D29A6412-A4CF-424D-A8BA-1550648234BE}" type="datetimeFigureOut">
              <a:rPr lang="pt-BR" smtClean="0"/>
              <a:t>28/08/2025</a:t>
            </a:fld>
            <a:endParaRPr lang="pt-BR"/>
          </a:p>
        </p:txBody>
      </p:sp>
      <p:sp>
        <p:nvSpPr>
          <p:cNvPr id="5" name="Espaço Reservado para Rodapé 4">
            <a:extLst>
              <a:ext uri="{FF2B5EF4-FFF2-40B4-BE49-F238E27FC236}">
                <a16:creationId xmlns:a16="http://schemas.microsoft.com/office/drawing/2014/main" id="{E040C1A5-FC81-69C7-7116-5DA2CEFB29E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30583EB-1581-C66C-D52D-D18C0C2B3B41}"/>
              </a:ext>
            </a:extLst>
          </p:cNvPr>
          <p:cNvSpPr>
            <a:spLocks noGrp="1"/>
          </p:cNvSpPr>
          <p:nvPr>
            <p:ph type="sldNum" sz="quarter" idx="12"/>
          </p:nvPr>
        </p:nvSpPr>
        <p:spPr/>
        <p:txBody>
          <a:bodyPr/>
          <a:lstStyle/>
          <a:p>
            <a:fld id="{BD8C11F2-55D0-49BA-8772-1D4A21D5EF60}" type="slidenum">
              <a:rPr lang="pt-BR" smtClean="0"/>
              <a:t>‹nº›</a:t>
            </a:fld>
            <a:endParaRPr lang="pt-BR"/>
          </a:p>
        </p:txBody>
      </p:sp>
    </p:spTree>
    <p:extLst>
      <p:ext uri="{BB962C8B-B14F-4D97-AF65-F5344CB8AC3E}">
        <p14:creationId xmlns:p14="http://schemas.microsoft.com/office/powerpoint/2010/main" val="3626840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B23CCE2F-2543-5EA0-EB44-94BBA9F867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A7140388-D7A3-ABE1-C7A6-BBB5A74444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7070505-FFC7-3A4E-30CB-E46D2EC254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9A6412-A4CF-424D-A8BA-1550648234BE}" type="datetimeFigureOut">
              <a:rPr lang="pt-BR" smtClean="0"/>
              <a:t>28/08/2025</a:t>
            </a:fld>
            <a:endParaRPr lang="pt-BR"/>
          </a:p>
        </p:txBody>
      </p:sp>
      <p:sp>
        <p:nvSpPr>
          <p:cNvPr id="5" name="Espaço Reservado para Rodapé 4">
            <a:extLst>
              <a:ext uri="{FF2B5EF4-FFF2-40B4-BE49-F238E27FC236}">
                <a16:creationId xmlns:a16="http://schemas.microsoft.com/office/drawing/2014/main" id="{9E018CEE-19B9-8810-2A83-2E7D4505D5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C2DB0C3-72F5-0421-3A42-AB6FFDA629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8C11F2-55D0-49BA-8772-1D4A21D5EF60}" type="slidenum">
              <a:rPr lang="pt-BR" smtClean="0"/>
              <a:t>‹nº›</a:t>
            </a:fld>
            <a:endParaRPr lang="pt-BR"/>
          </a:p>
        </p:txBody>
      </p:sp>
    </p:spTree>
    <p:extLst>
      <p:ext uri="{BB962C8B-B14F-4D97-AF65-F5344CB8AC3E}">
        <p14:creationId xmlns:p14="http://schemas.microsoft.com/office/powerpoint/2010/main" val="38332071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mailto:DPO@ALWAYSONDIGITAL.COM.BR"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C3544C74-459B-5C81-A6AB-CED5DF1FB4E9}"/>
              </a:ext>
            </a:extLst>
          </p:cNvPr>
          <p:cNvPicPr>
            <a:picLocks noChangeAspect="1"/>
          </p:cNvPicPr>
          <p:nvPr/>
        </p:nvPicPr>
        <p:blipFill>
          <a:blip r:embed="rId2"/>
          <a:stretch>
            <a:fillRect/>
          </a:stretch>
        </p:blipFill>
        <p:spPr>
          <a:xfrm>
            <a:off x="-338085" y="0"/>
            <a:ext cx="12868170" cy="6858000"/>
          </a:xfrm>
          <a:prstGeom prst="rect">
            <a:avLst/>
          </a:prstGeom>
        </p:spPr>
      </p:pic>
    </p:spTree>
    <p:extLst>
      <p:ext uri="{BB962C8B-B14F-4D97-AF65-F5344CB8AC3E}">
        <p14:creationId xmlns:p14="http://schemas.microsoft.com/office/powerpoint/2010/main" val="3917323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65433-54F3-2AAD-5B4B-606FE32D89F8}"/>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73C1E219-9225-A237-98D8-CDE9CFB1DA13}"/>
              </a:ext>
            </a:extLst>
          </p:cNvPr>
          <p:cNvPicPr>
            <a:picLocks noChangeAspect="1"/>
          </p:cNvPicPr>
          <p:nvPr/>
        </p:nvPicPr>
        <p:blipFill>
          <a:blip r:embed="rId2"/>
          <a:stretch>
            <a:fillRect/>
          </a:stretch>
        </p:blipFill>
        <p:spPr>
          <a:xfrm>
            <a:off x="-338085" y="0"/>
            <a:ext cx="12868170" cy="6858000"/>
          </a:xfrm>
          <a:prstGeom prst="rect">
            <a:avLst/>
          </a:prstGeom>
        </p:spPr>
      </p:pic>
      <p:sp>
        <p:nvSpPr>
          <p:cNvPr id="2" name="Retângulo: Cantos Arredondados 1">
            <a:extLst>
              <a:ext uri="{FF2B5EF4-FFF2-40B4-BE49-F238E27FC236}">
                <a16:creationId xmlns:a16="http://schemas.microsoft.com/office/drawing/2014/main" id="{7D09FC0A-1500-1C8A-6736-B7C5C1E3D611}"/>
              </a:ext>
            </a:extLst>
          </p:cNvPr>
          <p:cNvSpPr/>
          <p:nvPr/>
        </p:nvSpPr>
        <p:spPr>
          <a:xfrm>
            <a:off x="139700" y="4907755"/>
            <a:ext cx="11722100" cy="1655763"/>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300" dirty="0"/>
              <a:t>Configurações de Cookies</a:t>
            </a:r>
          </a:p>
          <a:p>
            <a:pPr algn="just"/>
            <a:r>
              <a:rPr lang="pt-BR" sz="1300" dirty="0"/>
              <a:t>A ALWAYS ON DIGITAL utiliza cookies para aprimorar sua experiência ao utilizar nossa ferramenta. Você pode personalizar suas preferências de cookies clicando em "Configurações de Cookies". Para mais informações, consulte nossa Política de Cookies</a:t>
            </a:r>
          </a:p>
          <a:p>
            <a:pPr algn="just"/>
            <a:r>
              <a:rPr lang="pt-BR" sz="1300" dirty="0"/>
              <a:t>Configurações de Cookies</a:t>
            </a:r>
          </a:p>
          <a:p>
            <a:pPr algn="just"/>
            <a:r>
              <a:rPr lang="pt-BR" sz="1300" dirty="0"/>
              <a:t>[ ] Aceitar todos</a:t>
            </a:r>
          </a:p>
          <a:p>
            <a:pPr algn="just"/>
            <a:r>
              <a:rPr lang="pt-BR" sz="1300" dirty="0"/>
              <a:t>[ ] Rejeitar todos</a:t>
            </a:r>
          </a:p>
          <a:p>
            <a:pPr algn="just"/>
            <a:r>
              <a:rPr lang="pt-BR" sz="1300" dirty="0"/>
              <a:t>Este banner foi elaborado em conformidade com as diretrizes estabelecidas pela Autoridade Nacional de Proteção de Dados (ANPD) e pela Lei Geral de Proteção de Dados Pessoais (LGPD), garantindo transparência e respeito à sua privacidade. </a:t>
            </a:r>
          </a:p>
        </p:txBody>
      </p:sp>
      <p:sp>
        <p:nvSpPr>
          <p:cNvPr id="3" name="Retângulo: Cantos Arredondados 2">
            <a:extLst>
              <a:ext uri="{FF2B5EF4-FFF2-40B4-BE49-F238E27FC236}">
                <a16:creationId xmlns:a16="http://schemas.microsoft.com/office/drawing/2014/main" id="{D27E86FE-77DB-7A16-E6A8-323055476096}"/>
              </a:ext>
            </a:extLst>
          </p:cNvPr>
          <p:cNvSpPr/>
          <p:nvPr/>
        </p:nvSpPr>
        <p:spPr>
          <a:xfrm>
            <a:off x="7582021" y="4007132"/>
            <a:ext cx="2183201" cy="497668"/>
          </a:xfrm>
          <a:prstGeom prst="round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300" dirty="0">
                <a:solidFill>
                  <a:schemeClr val="tx1"/>
                </a:solidFill>
              </a:rPr>
              <a:t>Necessidade de inclusão de um banner de cookies</a:t>
            </a:r>
          </a:p>
        </p:txBody>
      </p:sp>
      <p:sp>
        <p:nvSpPr>
          <p:cNvPr id="4" name="Seta: para Cima 3">
            <a:extLst>
              <a:ext uri="{FF2B5EF4-FFF2-40B4-BE49-F238E27FC236}">
                <a16:creationId xmlns:a16="http://schemas.microsoft.com/office/drawing/2014/main" id="{8BB2D151-97F5-7F88-9781-15625D4D5347}"/>
              </a:ext>
            </a:extLst>
          </p:cNvPr>
          <p:cNvSpPr/>
          <p:nvPr/>
        </p:nvSpPr>
        <p:spPr>
          <a:xfrm rot="10800000">
            <a:off x="8534138" y="4504800"/>
            <a:ext cx="278969" cy="402956"/>
          </a:xfrm>
          <a:prstGeom prst="up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Cantos Arredondados 5">
            <a:extLst>
              <a:ext uri="{FF2B5EF4-FFF2-40B4-BE49-F238E27FC236}">
                <a16:creationId xmlns:a16="http://schemas.microsoft.com/office/drawing/2014/main" id="{5D4E07FF-DF9A-8C69-1BA6-34B90D884A7F}"/>
              </a:ext>
            </a:extLst>
          </p:cNvPr>
          <p:cNvSpPr/>
          <p:nvPr/>
        </p:nvSpPr>
        <p:spPr>
          <a:xfrm>
            <a:off x="9765222" y="1388585"/>
            <a:ext cx="2183201" cy="329340"/>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300" dirty="0">
                <a:solidFill>
                  <a:schemeClr val="bg1"/>
                </a:solidFill>
              </a:rPr>
              <a:t>Portal de Privacidade</a:t>
            </a:r>
          </a:p>
        </p:txBody>
      </p:sp>
      <p:sp>
        <p:nvSpPr>
          <p:cNvPr id="7" name="Retângulo: Cantos Arredondados 6">
            <a:extLst>
              <a:ext uri="{FF2B5EF4-FFF2-40B4-BE49-F238E27FC236}">
                <a16:creationId xmlns:a16="http://schemas.microsoft.com/office/drawing/2014/main" id="{6FD61B7E-DEE2-878C-6D4A-0FED0FD37224}"/>
              </a:ext>
            </a:extLst>
          </p:cNvPr>
          <p:cNvSpPr/>
          <p:nvPr/>
        </p:nvSpPr>
        <p:spPr>
          <a:xfrm>
            <a:off x="9766512" y="2038027"/>
            <a:ext cx="2183201" cy="767165"/>
          </a:xfrm>
          <a:prstGeom prst="round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300" dirty="0">
                <a:solidFill>
                  <a:schemeClr val="tx1"/>
                </a:solidFill>
              </a:rPr>
              <a:t>Criação de um Portal de Privacidade, com acesso individualizado</a:t>
            </a:r>
          </a:p>
        </p:txBody>
      </p:sp>
      <p:sp>
        <p:nvSpPr>
          <p:cNvPr id="8" name="Seta: para Cima 7">
            <a:extLst>
              <a:ext uri="{FF2B5EF4-FFF2-40B4-BE49-F238E27FC236}">
                <a16:creationId xmlns:a16="http://schemas.microsoft.com/office/drawing/2014/main" id="{DCCF84EF-FC3E-6D4F-7D53-59BD54BFC5C5}"/>
              </a:ext>
            </a:extLst>
          </p:cNvPr>
          <p:cNvSpPr/>
          <p:nvPr/>
        </p:nvSpPr>
        <p:spPr>
          <a:xfrm>
            <a:off x="10717336" y="1676499"/>
            <a:ext cx="278969" cy="402956"/>
          </a:xfrm>
          <a:prstGeom prst="up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24855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96A3A-DFE5-8029-2DAE-0AE4AFEC0128}"/>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AB7B1D12-2CB5-1B0C-015E-38486FB92ADF}"/>
              </a:ext>
            </a:extLst>
          </p:cNvPr>
          <p:cNvPicPr>
            <a:picLocks noChangeAspect="1"/>
          </p:cNvPicPr>
          <p:nvPr/>
        </p:nvPicPr>
        <p:blipFill>
          <a:blip r:embed="rId2"/>
          <a:stretch>
            <a:fillRect/>
          </a:stretch>
        </p:blipFill>
        <p:spPr>
          <a:xfrm>
            <a:off x="-338085" y="0"/>
            <a:ext cx="12868170" cy="6858000"/>
          </a:xfrm>
          <a:prstGeom prst="rect">
            <a:avLst/>
          </a:prstGeom>
        </p:spPr>
      </p:pic>
      <p:sp>
        <p:nvSpPr>
          <p:cNvPr id="6" name="Retângulo: Cantos Arredondados 5">
            <a:extLst>
              <a:ext uri="{FF2B5EF4-FFF2-40B4-BE49-F238E27FC236}">
                <a16:creationId xmlns:a16="http://schemas.microsoft.com/office/drawing/2014/main" id="{570D0B77-50DA-E83C-4F74-585B4EA728DD}"/>
              </a:ext>
            </a:extLst>
          </p:cNvPr>
          <p:cNvSpPr/>
          <p:nvPr/>
        </p:nvSpPr>
        <p:spPr>
          <a:xfrm>
            <a:off x="1875295" y="970131"/>
            <a:ext cx="9531457" cy="51770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000" dirty="0">
                <a:solidFill>
                  <a:schemeClr val="bg1"/>
                </a:solidFill>
              </a:rPr>
              <a:t>Portal de Privacidade</a:t>
            </a:r>
          </a:p>
        </p:txBody>
      </p:sp>
      <p:sp>
        <p:nvSpPr>
          <p:cNvPr id="9" name="Retângulo: Cantos Arredondados 8">
            <a:extLst>
              <a:ext uri="{FF2B5EF4-FFF2-40B4-BE49-F238E27FC236}">
                <a16:creationId xmlns:a16="http://schemas.microsoft.com/office/drawing/2014/main" id="{97DBE39B-283C-6B8C-AAD9-259134ABFC83}"/>
              </a:ext>
            </a:extLst>
          </p:cNvPr>
          <p:cNvSpPr/>
          <p:nvPr/>
        </p:nvSpPr>
        <p:spPr>
          <a:xfrm>
            <a:off x="0" y="1896581"/>
            <a:ext cx="2391012" cy="50240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POLITICA DE PRIVACIDADE E POLÍTICA DE COOKIES</a:t>
            </a:r>
          </a:p>
        </p:txBody>
      </p:sp>
      <p:sp>
        <p:nvSpPr>
          <p:cNvPr id="11" name="Retângulo: Cantos Arredondados 10">
            <a:extLst>
              <a:ext uri="{FF2B5EF4-FFF2-40B4-BE49-F238E27FC236}">
                <a16:creationId xmlns:a16="http://schemas.microsoft.com/office/drawing/2014/main" id="{2748CC6B-A5A4-6ED6-A0F3-E06E15625AF1}"/>
              </a:ext>
            </a:extLst>
          </p:cNvPr>
          <p:cNvSpPr/>
          <p:nvPr/>
        </p:nvSpPr>
        <p:spPr>
          <a:xfrm>
            <a:off x="0" y="3463312"/>
            <a:ext cx="2391012" cy="1367331"/>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COMUNICAÇÃO DE INCIDENTES OU SOLICITAÇÃO DE ÓRGÃOS PÚBLICOS</a:t>
            </a:r>
          </a:p>
        </p:txBody>
      </p:sp>
      <p:sp>
        <p:nvSpPr>
          <p:cNvPr id="12" name="Retângulo: Cantos Arredondados 11">
            <a:extLst>
              <a:ext uri="{FF2B5EF4-FFF2-40B4-BE49-F238E27FC236}">
                <a16:creationId xmlns:a16="http://schemas.microsoft.com/office/drawing/2014/main" id="{ACAD258C-9BEB-260B-4927-DE8D22471A3A}"/>
              </a:ext>
            </a:extLst>
          </p:cNvPr>
          <p:cNvSpPr/>
          <p:nvPr/>
        </p:nvSpPr>
        <p:spPr>
          <a:xfrm>
            <a:off x="2729097" y="1720312"/>
            <a:ext cx="8677655" cy="4417017"/>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LGPD e Política de Privacidade</a:t>
            </a:r>
          </a:p>
          <a:p>
            <a:pPr algn="ctr"/>
            <a:endParaRPr lang="pt-BR" sz="1600" b="1" dirty="0"/>
          </a:p>
          <a:p>
            <a:pPr algn="just">
              <a:tabLst>
                <a:tab pos="6013450" algn="l"/>
              </a:tabLst>
            </a:pPr>
            <a:r>
              <a:rPr lang="pt-BR" sz="1600" b="1" dirty="0"/>
              <a:t>A ALWAYS ON DIGITAL pauta sua atuação pelos princípios estabelecidos na Lei Geral de Proteção de Dados Pessoais (Lei nº 13.709/2018), reafirmando seu compromisso com a ética, a transparência e a segurança no tratamento de dados.</a:t>
            </a:r>
          </a:p>
          <a:p>
            <a:pPr algn="just">
              <a:tabLst>
                <a:tab pos="6013450" algn="l"/>
              </a:tabLst>
            </a:pPr>
            <a:endParaRPr lang="pt-BR" sz="1600" dirty="0"/>
          </a:p>
          <a:p>
            <a:pPr algn="just"/>
            <a:r>
              <a:rPr lang="pt-BR" sz="1600" dirty="0"/>
              <a:t>Reconhecendo-se como parte de um ecossistema interdependente, a ALWAYS ON DIGITAL entende que a proteção das informações de seus colaboradores, clientes, fornecedores e parceiros é fundamental. Nesse sentido, estabelecemos e mantemos um programa robusto de governança em privacidade e proteção de dados, alinhado às exigências legais e às melhores práticas do setor.</a:t>
            </a:r>
          </a:p>
          <a:p>
            <a:pPr algn="just"/>
            <a:endParaRPr lang="pt-BR" sz="1600" dirty="0"/>
          </a:p>
          <a:p>
            <a:pPr algn="just"/>
            <a:r>
              <a:rPr lang="pt-BR" sz="1600" dirty="0"/>
              <a:t>Asseguramos, assim, o tratamento responsável, seguro e transparente dos dados pessoais, garantindo a todos os envolvidos a confidencialidade, a integridade e a privacidade das informações confiadas à nossa organização.</a:t>
            </a:r>
          </a:p>
          <a:p>
            <a:pPr algn="ctr"/>
            <a:endParaRPr lang="pt-BR" sz="1300" dirty="0">
              <a:solidFill>
                <a:schemeClr val="bg1"/>
              </a:solidFill>
            </a:endParaRPr>
          </a:p>
        </p:txBody>
      </p:sp>
      <p:sp>
        <p:nvSpPr>
          <p:cNvPr id="13" name="Retângulo: Cantos Arredondados 12">
            <a:extLst>
              <a:ext uri="{FF2B5EF4-FFF2-40B4-BE49-F238E27FC236}">
                <a16:creationId xmlns:a16="http://schemas.microsoft.com/office/drawing/2014/main" id="{658440FF-9FD8-DCC1-4CDF-AD25ACE4D19D}"/>
              </a:ext>
            </a:extLst>
          </p:cNvPr>
          <p:cNvSpPr/>
          <p:nvPr/>
        </p:nvSpPr>
        <p:spPr>
          <a:xfrm>
            <a:off x="0" y="2681380"/>
            <a:ext cx="2391012" cy="50240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EXERCÍCIO DE DIREITOS</a:t>
            </a:r>
          </a:p>
        </p:txBody>
      </p:sp>
    </p:spTree>
    <p:extLst>
      <p:ext uri="{BB962C8B-B14F-4D97-AF65-F5344CB8AC3E}">
        <p14:creationId xmlns:p14="http://schemas.microsoft.com/office/powerpoint/2010/main" val="3410554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1B9CE-049E-F05F-ACD2-D5087F5013FF}"/>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30CE91E3-E5FA-64EC-EC8E-06682B09EB7D}"/>
              </a:ext>
            </a:extLst>
          </p:cNvPr>
          <p:cNvPicPr>
            <a:picLocks noChangeAspect="1"/>
          </p:cNvPicPr>
          <p:nvPr/>
        </p:nvPicPr>
        <p:blipFill>
          <a:blip r:embed="rId2"/>
          <a:stretch>
            <a:fillRect/>
          </a:stretch>
        </p:blipFill>
        <p:spPr>
          <a:xfrm>
            <a:off x="-338085" y="0"/>
            <a:ext cx="12868170" cy="6858000"/>
          </a:xfrm>
          <a:prstGeom prst="rect">
            <a:avLst/>
          </a:prstGeom>
        </p:spPr>
      </p:pic>
      <p:sp>
        <p:nvSpPr>
          <p:cNvPr id="6" name="Retângulo: Cantos Arredondados 5">
            <a:extLst>
              <a:ext uri="{FF2B5EF4-FFF2-40B4-BE49-F238E27FC236}">
                <a16:creationId xmlns:a16="http://schemas.microsoft.com/office/drawing/2014/main" id="{0F25BB30-5BE1-AD70-6525-EF4D11E007EB}"/>
              </a:ext>
            </a:extLst>
          </p:cNvPr>
          <p:cNvSpPr/>
          <p:nvPr/>
        </p:nvSpPr>
        <p:spPr>
          <a:xfrm>
            <a:off x="1875295" y="970131"/>
            <a:ext cx="9531457" cy="51770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000" dirty="0">
                <a:solidFill>
                  <a:schemeClr val="bg1"/>
                </a:solidFill>
              </a:rPr>
              <a:t>Portal de Privacidade</a:t>
            </a:r>
          </a:p>
        </p:txBody>
      </p:sp>
      <p:sp>
        <p:nvSpPr>
          <p:cNvPr id="9" name="Retângulo: Cantos Arredondados 8">
            <a:extLst>
              <a:ext uri="{FF2B5EF4-FFF2-40B4-BE49-F238E27FC236}">
                <a16:creationId xmlns:a16="http://schemas.microsoft.com/office/drawing/2014/main" id="{B3CD2A66-72FA-5925-4760-EF4FB65A6B64}"/>
              </a:ext>
            </a:extLst>
          </p:cNvPr>
          <p:cNvSpPr/>
          <p:nvPr/>
        </p:nvSpPr>
        <p:spPr>
          <a:xfrm>
            <a:off x="0" y="1896581"/>
            <a:ext cx="2391012" cy="50240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POLITICA DE PRIVACIDADE E POLÍTICA DE COOKIES</a:t>
            </a:r>
          </a:p>
        </p:txBody>
      </p:sp>
      <p:sp>
        <p:nvSpPr>
          <p:cNvPr id="10" name="Retângulo: Cantos Arredondados 9">
            <a:extLst>
              <a:ext uri="{FF2B5EF4-FFF2-40B4-BE49-F238E27FC236}">
                <a16:creationId xmlns:a16="http://schemas.microsoft.com/office/drawing/2014/main" id="{3DD3889E-9C0C-6445-9924-1D4A41413D09}"/>
              </a:ext>
            </a:extLst>
          </p:cNvPr>
          <p:cNvSpPr/>
          <p:nvPr/>
        </p:nvSpPr>
        <p:spPr>
          <a:xfrm>
            <a:off x="0" y="2681380"/>
            <a:ext cx="2391012" cy="50240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EXERCÍCIO DE DIREITOS</a:t>
            </a:r>
          </a:p>
        </p:txBody>
      </p:sp>
      <p:sp>
        <p:nvSpPr>
          <p:cNvPr id="11" name="Retângulo: Cantos Arredondados 10">
            <a:extLst>
              <a:ext uri="{FF2B5EF4-FFF2-40B4-BE49-F238E27FC236}">
                <a16:creationId xmlns:a16="http://schemas.microsoft.com/office/drawing/2014/main" id="{BDB2D6D6-1052-2C7D-52E6-7583BB149B7B}"/>
              </a:ext>
            </a:extLst>
          </p:cNvPr>
          <p:cNvSpPr/>
          <p:nvPr/>
        </p:nvSpPr>
        <p:spPr>
          <a:xfrm>
            <a:off x="0" y="3463312"/>
            <a:ext cx="2391012" cy="1367331"/>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COMUNICAÇÃO DE INCIDENTES OU SOLICITAÇÃO DE ÓRGÃOS PÚBLICOS</a:t>
            </a:r>
          </a:p>
        </p:txBody>
      </p:sp>
      <p:sp>
        <p:nvSpPr>
          <p:cNvPr id="12" name="Retângulo: Cantos Arredondados 11">
            <a:extLst>
              <a:ext uri="{FF2B5EF4-FFF2-40B4-BE49-F238E27FC236}">
                <a16:creationId xmlns:a16="http://schemas.microsoft.com/office/drawing/2014/main" id="{E87CC8B0-9E57-C2F7-A79F-B78EC8A19F91}"/>
              </a:ext>
            </a:extLst>
          </p:cNvPr>
          <p:cNvSpPr/>
          <p:nvPr/>
        </p:nvSpPr>
        <p:spPr>
          <a:xfrm>
            <a:off x="2729097" y="1684420"/>
            <a:ext cx="8677655" cy="4452909"/>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300" dirty="0"/>
              <a:t>Sugerimos que leia nossa política, e caso restem dúvidas, sinta-se à vontade para esclarecê-las através do seguinte e-mail: </a:t>
            </a:r>
            <a:r>
              <a:rPr lang="pt-BR" sz="1300" dirty="0">
                <a:hlinkClick r:id="rId3"/>
              </a:rPr>
              <a:t>DPO@ALWAYSONDIGITAL.COM.BR</a:t>
            </a:r>
            <a:endParaRPr lang="pt-BR" sz="1300" dirty="0"/>
          </a:p>
          <a:p>
            <a:pPr algn="just"/>
            <a:endParaRPr lang="pt-BR" sz="1300" dirty="0"/>
          </a:p>
          <a:p>
            <a:pPr algn="just"/>
            <a:r>
              <a:rPr lang="pt-BR" sz="1300" dirty="0"/>
              <a:t>O que são dados pessoais conforme a Lei Geral de Proteção de Dados Pessoais?</a:t>
            </a:r>
          </a:p>
          <a:p>
            <a:pPr algn="just"/>
            <a:r>
              <a:rPr lang="pt-BR" sz="1300" dirty="0"/>
              <a:t>São dados pessoais aqueles que permitem identificar uma pessoa, tais como: nome, data de nascimento, número de identificação, dados de localização e outros. Dados pessoais sobre origem racial ou étnica, convicção religiosa, opinião política, filiação a sindicato ou a organização de caráter religioso, filosófico ou político, dado referente à saúde ou à vida sexual, dado genético ou biométrico, quando vinculado a uma pessoa natural são considerados dados pessoais sensíveis, e precisam ser tratados com ainda mais cautela pelas empresas e instituições.</a:t>
            </a:r>
          </a:p>
          <a:p>
            <a:pPr algn="just"/>
            <a:endParaRPr lang="pt-BR" sz="1300" dirty="0"/>
          </a:p>
          <a:p>
            <a:pPr algn="just"/>
            <a:r>
              <a:rPr lang="pt-BR" sz="1300" dirty="0"/>
              <a:t>Quais dados pessoais são coletados? Como são coletados? Para qual finalidade?</a:t>
            </a:r>
          </a:p>
          <a:p>
            <a:pPr algn="just"/>
            <a:r>
              <a:rPr lang="pt-BR" sz="1300" dirty="0"/>
              <a:t>Em nosso site, coletamos dados que são fornecidos diretamente pelo usuário, quando preenche os  campos de  exercício de direitos ou comunicação de incidentes.</a:t>
            </a:r>
          </a:p>
          <a:p>
            <a:pPr algn="just"/>
            <a:endParaRPr lang="pt-BR" sz="1300" dirty="0"/>
          </a:p>
          <a:p>
            <a:pPr algn="just"/>
            <a:r>
              <a:rPr lang="pt-BR" sz="1300" dirty="0"/>
              <a:t>O que são cookies e </a:t>
            </a:r>
            <a:r>
              <a:rPr lang="pt-BR" sz="1300" dirty="0" err="1"/>
              <a:t>trackers</a:t>
            </a:r>
            <a:r>
              <a:rPr lang="pt-BR" sz="1300" dirty="0"/>
              <a:t>?</a:t>
            </a:r>
          </a:p>
          <a:p>
            <a:pPr algn="just"/>
            <a:r>
              <a:rPr lang="pt-BR" sz="1300" dirty="0" err="1"/>
              <a:t>Trackers</a:t>
            </a:r>
            <a:r>
              <a:rPr lang="pt-BR" sz="1300" dirty="0"/>
              <a:t> são ferramentas de observação na internet e cookies são o mais famoso tipo de </a:t>
            </a:r>
            <a:r>
              <a:rPr lang="pt-BR" sz="1300" dirty="0" err="1"/>
              <a:t>tracker</a:t>
            </a:r>
            <a:r>
              <a:rPr lang="pt-BR" sz="1300" dirty="0"/>
              <a:t>. Quando você acessa sites, eles podem enviar pequenos arquivos de texto (cookies) para o seu navegador para registrar o seu comportamento. É por causa de cookies, por exemplo, que você vê anúncios de coisas que você já procurou quando visita sites de mídias sociais, notícias e mais</a:t>
            </a:r>
          </a:p>
          <a:p>
            <a:pPr algn="ctr"/>
            <a:endParaRPr lang="pt-BR" sz="1300" dirty="0">
              <a:solidFill>
                <a:schemeClr val="bg1"/>
              </a:solidFill>
            </a:endParaRPr>
          </a:p>
        </p:txBody>
      </p:sp>
      <p:sp>
        <p:nvSpPr>
          <p:cNvPr id="3" name="Retângulo: Cantos Arredondados 2">
            <a:extLst>
              <a:ext uri="{FF2B5EF4-FFF2-40B4-BE49-F238E27FC236}">
                <a16:creationId xmlns:a16="http://schemas.microsoft.com/office/drawing/2014/main" id="{0B8B9D47-5BFB-15D7-836F-C509DFF45899}"/>
              </a:ext>
            </a:extLst>
          </p:cNvPr>
          <p:cNvSpPr/>
          <p:nvPr/>
        </p:nvSpPr>
        <p:spPr>
          <a:xfrm>
            <a:off x="5356078" y="5887869"/>
            <a:ext cx="3423692" cy="864304"/>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POLITICA DE PRIVACIDADE</a:t>
            </a:r>
          </a:p>
        </p:txBody>
      </p:sp>
      <p:pic>
        <p:nvPicPr>
          <p:cNvPr id="4" name="Gráfico 3" descr="Cursor com preenchimento sólido">
            <a:extLst>
              <a:ext uri="{FF2B5EF4-FFF2-40B4-BE49-F238E27FC236}">
                <a16:creationId xmlns:a16="http://schemas.microsoft.com/office/drawing/2014/main" id="{662B2D62-8FE6-CC5F-2412-34BA031DDF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38278" y="2018182"/>
            <a:ext cx="914400" cy="914400"/>
          </a:xfrm>
          <a:prstGeom prst="rect">
            <a:avLst/>
          </a:prstGeom>
        </p:spPr>
      </p:pic>
    </p:spTree>
    <p:extLst>
      <p:ext uri="{BB962C8B-B14F-4D97-AF65-F5344CB8AC3E}">
        <p14:creationId xmlns:p14="http://schemas.microsoft.com/office/powerpoint/2010/main" val="2806392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D9AC3-2A9F-2177-BC36-94B5EA21C7AA}"/>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0146E2ED-A845-B8BD-73C8-832E94339DA1}"/>
              </a:ext>
            </a:extLst>
          </p:cNvPr>
          <p:cNvPicPr>
            <a:picLocks noChangeAspect="1"/>
          </p:cNvPicPr>
          <p:nvPr/>
        </p:nvPicPr>
        <p:blipFill>
          <a:blip r:embed="rId2"/>
          <a:stretch>
            <a:fillRect/>
          </a:stretch>
        </p:blipFill>
        <p:spPr>
          <a:xfrm>
            <a:off x="-338085" y="0"/>
            <a:ext cx="12868170" cy="6858000"/>
          </a:xfrm>
          <a:prstGeom prst="rect">
            <a:avLst/>
          </a:prstGeom>
        </p:spPr>
      </p:pic>
      <p:sp>
        <p:nvSpPr>
          <p:cNvPr id="6" name="Retângulo: Cantos Arredondados 5">
            <a:extLst>
              <a:ext uri="{FF2B5EF4-FFF2-40B4-BE49-F238E27FC236}">
                <a16:creationId xmlns:a16="http://schemas.microsoft.com/office/drawing/2014/main" id="{F2849276-04FE-4315-7EEA-8AFE3F1620CD}"/>
              </a:ext>
            </a:extLst>
          </p:cNvPr>
          <p:cNvSpPr/>
          <p:nvPr/>
        </p:nvSpPr>
        <p:spPr>
          <a:xfrm>
            <a:off x="1875295" y="970131"/>
            <a:ext cx="9531457" cy="51770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000" dirty="0">
                <a:solidFill>
                  <a:schemeClr val="bg1"/>
                </a:solidFill>
              </a:rPr>
              <a:t>Portal de Privacidade</a:t>
            </a:r>
          </a:p>
        </p:txBody>
      </p:sp>
      <p:sp>
        <p:nvSpPr>
          <p:cNvPr id="9" name="Retângulo: Cantos Arredondados 8">
            <a:extLst>
              <a:ext uri="{FF2B5EF4-FFF2-40B4-BE49-F238E27FC236}">
                <a16:creationId xmlns:a16="http://schemas.microsoft.com/office/drawing/2014/main" id="{2A7EE83F-9536-A07C-A008-0180099B7862}"/>
              </a:ext>
            </a:extLst>
          </p:cNvPr>
          <p:cNvSpPr/>
          <p:nvPr/>
        </p:nvSpPr>
        <p:spPr>
          <a:xfrm>
            <a:off x="0" y="1896581"/>
            <a:ext cx="2391012" cy="50240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POLITICA DE PRIVACIDADE E POLÍTICA DE COOKIES</a:t>
            </a:r>
          </a:p>
        </p:txBody>
      </p:sp>
      <p:sp>
        <p:nvSpPr>
          <p:cNvPr id="10" name="Retângulo: Cantos Arredondados 9">
            <a:extLst>
              <a:ext uri="{FF2B5EF4-FFF2-40B4-BE49-F238E27FC236}">
                <a16:creationId xmlns:a16="http://schemas.microsoft.com/office/drawing/2014/main" id="{8678C375-C19D-1033-9E23-38F6AF8F370E}"/>
              </a:ext>
            </a:extLst>
          </p:cNvPr>
          <p:cNvSpPr/>
          <p:nvPr/>
        </p:nvSpPr>
        <p:spPr>
          <a:xfrm>
            <a:off x="0" y="2681380"/>
            <a:ext cx="2391012" cy="50240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EXERCÍCIO DE DIREITOS</a:t>
            </a:r>
          </a:p>
        </p:txBody>
      </p:sp>
      <p:sp>
        <p:nvSpPr>
          <p:cNvPr id="11" name="Retângulo: Cantos Arredondados 10">
            <a:extLst>
              <a:ext uri="{FF2B5EF4-FFF2-40B4-BE49-F238E27FC236}">
                <a16:creationId xmlns:a16="http://schemas.microsoft.com/office/drawing/2014/main" id="{AB042A11-5C93-34EA-201C-E5BE479B3000}"/>
              </a:ext>
            </a:extLst>
          </p:cNvPr>
          <p:cNvSpPr/>
          <p:nvPr/>
        </p:nvSpPr>
        <p:spPr>
          <a:xfrm>
            <a:off x="0" y="3463312"/>
            <a:ext cx="2391012" cy="1367331"/>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COMUNICAÇÃO DE INCIDENTES OU SOLICITAÇÃO DE ÓRGÃOS PÚBLICOS</a:t>
            </a:r>
          </a:p>
        </p:txBody>
      </p:sp>
      <p:sp>
        <p:nvSpPr>
          <p:cNvPr id="12" name="Retângulo: Cantos Arredondados 11">
            <a:extLst>
              <a:ext uri="{FF2B5EF4-FFF2-40B4-BE49-F238E27FC236}">
                <a16:creationId xmlns:a16="http://schemas.microsoft.com/office/drawing/2014/main" id="{CC0CCB8C-1821-EC30-89BA-CF5583A1D887}"/>
              </a:ext>
            </a:extLst>
          </p:cNvPr>
          <p:cNvSpPr/>
          <p:nvPr/>
        </p:nvSpPr>
        <p:spPr>
          <a:xfrm>
            <a:off x="2729097" y="1684420"/>
            <a:ext cx="8677655" cy="4452909"/>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500" dirty="0"/>
              <a:t>Exercício de Direitos</a:t>
            </a:r>
          </a:p>
          <a:p>
            <a:pPr algn="just"/>
            <a:endParaRPr lang="pt-BR" sz="1500" dirty="0"/>
          </a:p>
          <a:p>
            <a:pPr algn="just"/>
            <a:r>
              <a:rPr lang="pt-BR" sz="1500" dirty="0"/>
              <a:t>A ALWAYS ON DIGITAL assegura aos titulares de dados que o seu processo de tratamento de dados atende integralmente os termos da Lei nº 13.709/2018.</a:t>
            </a:r>
          </a:p>
          <a:p>
            <a:pPr algn="just"/>
            <a:endParaRPr lang="pt-BR" sz="1500" dirty="0"/>
          </a:p>
          <a:p>
            <a:pPr algn="just"/>
            <a:r>
              <a:rPr lang="pt-BR" sz="1500" dirty="0"/>
              <a:t>Assim, oferece ao titular dedados, um canal de comunicação direto com nosso DPO, a fim de que você possa exercer seus direitos, tais como solicitação de informações sobre dados tratados, revogação de consentimento etc.</a:t>
            </a:r>
          </a:p>
          <a:p>
            <a:pPr algn="just"/>
            <a:endParaRPr lang="pt-BR" sz="1500" dirty="0"/>
          </a:p>
          <a:p>
            <a:pPr algn="just"/>
            <a:r>
              <a:rPr lang="pt-BR" sz="1500" dirty="0"/>
              <a:t>Com o objetivo de facilitar o procedimento de comunicação disponibiliza o canal de exercício de direitos, bastando clicar no ícone abaixo</a:t>
            </a:r>
          </a:p>
          <a:p>
            <a:pPr algn="just"/>
            <a:endParaRPr lang="pt-BR" sz="1500" dirty="0"/>
          </a:p>
          <a:p>
            <a:pPr algn="ctr"/>
            <a:endParaRPr lang="pt-BR" sz="1300" dirty="0">
              <a:solidFill>
                <a:schemeClr val="bg1"/>
              </a:solidFill>
            </a:endParaRPr>
          </a:p>
        </p:txBody>
      </p:sp>
      <p:sp>
        <p:nvSpPr>
          <p:cNvPr id="3" name="Retângulo: Cantos Arredondados 2">
            <a:extLst>
              <a:ext uri="{FF2B5EF4-FFF2-40B4-BE49-F238E27FC236}">
                <a16:creationId xmlns:a16="http://schemas.microsoft.com/office/drawing/2014/main" id="{9A7323B6-C848-E3E5-D570-25124E728A32}"/>
              </a:ext>
            </a:extLst>
          </p:cNvPr>
          <p:cNvSpPr/>
          <p:nvPr/>
        </p:nvSpPr>
        <p:spPr>
          <a:xfrm>
            <a:off x="5356078" y="5141912"/>
            <a:ext cx="3423692" cy="864304"/>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MANDE SUA SOLICITAÇÃO</a:t>
            </a:r>
          </a:p>
        </p:txBody>
      </p:sp>
      <p:pic>
        <p:nvPicPr>
          <p:cNvPr id="4" name="Gráfico 3" descr="Cursor com preenchimento sólido">
            <a:extLst>
              <a:ext uri="{FF2B5EF4-FFF2-40B4-BE49-F238E27FC236}">
                <a16:creationId xmlns:a16="http://schemas.microsoft.com/office/drawing/2014/main" id="{084A4F70-76EE-B859-BFB0-C7EEB0DE82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02855" y="2759817"/>
            <a:ext cx="914400" cy="914400"/>
          </a:xfrm>
          <a:prstGeom prst="rect">
            <a:avLst/>
          </a:prstGeom>
        </p:spPr>
      </p:pic>
    </p:spTree>
    <p:extLst>
      <p:ext uri="{BB962C8B-B14F-4D97-AF65-F5344CB8AC3E}">
        <p14:creationId xmlns:p14="http://schemas.microsoft.com/office/powerpoint/2010/main" val="198532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A7C78-EBED-9524-FF2A-647160B66CF9}"/>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58D99037-155E-E155-95A4-DC5EE07418BB}"/>
              </a:ext>
            </a:extLst>
          </p:cNvPr>
          <p:cNvPicPr>
            <a:picLocks noChangeAspect="1"/>
          </p:cNvPicPr>
          <p:nvPr/>
        </p:nvPicPr>
        <p:blipFill>
          <a:blip r:embed="rId2"/>
          <a:stretch>
            <a:fillRect/>
          </a:stretch>
        </p:blipFill>
        <p:spPr>
          <a:xfrm>
            <a:off x="-338085" y="0"/>
            <a:ext cx="12868170" cy="6858000"/>
          </a:xfrm>
          <a:prstGeom prst="rect">
            <a:avLst/>
          </a:prstGeom>
        </p:spPr>
      </p:pic>
      <p:sp>
        <p:nvSpPr>
          <p:cNvPr id="6" name="Retângulo: Cantos Arredondados 5">
            <a:extLst>
              <a:ext uri="{FF2B5EF4-FFF2-40B4-BE49-F238E27FC236}">
                <a16:creationId xmlns:a16="http://schemas.microsoft.com/office/drawing/2014/main" id="{53084188-769D-36A4-A268-9CE6FD37E563}"/>
              </a:ext>
            </a:extLst>
          </p:cNvPr>
          <p:cNvSpPr/>
          <p:nvPr/>
        </p:nvSpPr>
        <p:spPr>
          <a:xfrm>
            <a:off x="1875295" y="970131"/>
            <a:ext cx="9531457" cy="51770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000" dirty="0">
                <a:solidFill>
                  <a:schemeClr val="bg1"/>
                </a:solidFill>
              </a:rPr>
              <a:t>Portal de Privacidade</a:t>
            </a:r>
          </a:p>
        </p:txBody>
      </p:sp>
      <p:sp>
        <p:nvSpPr>
          <p:cNvPr id="9" name="Retângulo: Cantos Arredondados 8">
            <a:extLst>
              <a:ext uri="{FF2B5EF4-FFF2-40B4-BE49-F238E27FC236}">
                <a16:creationId xmlns:a16="http://schemas.microsoft.com/office/drawing/2014/main" id="{9B401E4B-307A-679F-37D5-B1A95C4E2984}"/>
              </a:ext>
            </a:extLst>
          </p:cNvPr>
          <p:cNvSpPr/>
          <p:nvPr/>
        </p:nvSpPr>
        <p:spPr>
          <a:xfrm>
            <a:off x="0" y="1896581"/>
            <a:ext cx="2391012" cy="50240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POLITICA DE PRIVACIDADE E POLÍTICA DE COOKIES</a:t>
            </a:r>
          </a:p>
        </p:txBody>
      </p:sp>
      <p:sp>
        <p:nvSpPr>
          <p:cNvPr id="10" name="Retângulo: Cantos Arredondados 9">
            <a:extLst>
              <a:ext uri="{FF2B5EF4-FFF2-40B4-BE49-F238E27FC236}">
                <a16:creationId xmlns:a16="http://schemas.microsoft.com/office/drawing/2014/main" id="{C14781A7-4B74-1481-4A78-402D5915D655}"/>
              </a:ext>
            </a:extLst>
          </p:cNvPr>
          <p:cNvSpPr/>
          <p:nvPr/>
        </p:nvSpPr>
        <p:spPr>
          <a:xfrm>
            <a:off x="0" y="2681380"/>
            <a:ext cx="2391012" cy="50240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EXERCÍCIO DE DIREITOS</a:t>
            </a:r>
          </a:p>
        </p:txBody>
      </p:sp>
      <p:sp>
        <p:nvSpPr>
          <p:cNvPr id="11" name="Retângulo: Cantos Arredondados 10">
            <a:extLst>
              <a:ext uri="{FF2B5EF4-FFF2-40B4-BE49-F238E27FC236}">
                <a16:creationId xmlns:a16="http://schemas.microsoft.com/office/drawing/2014/main" id="{5A38C8AF-1B59-0161-31EA-F0B95BF66C4F}"/>
              </a:ext>
            </a:extLst>
          </p:cNvPr>
          <p:cNvSpPr/>
          <p:nvPr/>
        </p:nvSpPr>
        <p:spPr>
          <a:xfrm>
            <a:off x="0" y="3463312"/>
            <a:ext cx="2391012" cy="1367331"/>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COMUNICAÇÃO DE INCIDENTES OU SOLICITAÇÃO DE ÓRGÃOS PÚBLICOS</a:t>
            </a:r>
          </a:p>
        </p:txBody>
      </p:sp>
      <p:sp>
        <p:nvSpPr>
          <p:cNvPr id="12" name="Retângulo: Cantos Arredondados 11">
            <a:extLst>
              <a:ext uri="{FF2B5EF4-FFF2-40B4-BE49-F238E27FC236}">
                <a16:creationId xmlns:a16="http://schemas.microsoft.com/office/drawing/2014/main" id="{0CE01384-B625-0EA1-CF44-71F16A2E897D}"/>
              </a:ext>
            </a:extLst>
          </p:cNvPr>
          <p:cNvSpPr/>
          <p:nvPr/>
        </p:nvSpPr>
        <p:spPr>
          <a:xfrm>
            <a:off x="2729097" y="1684420"/>
            <a:ext cx="8677655" cy="4452909"/>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500" dirty="0"/>
              <a:t>Exercício de Direitos</a:t>
            </a:r>
          </a:p>
          <a:p>
            <a:pPr algn="just"/>
            <a:endParaRPr lang="pt-BR" sz="1500" dirty="0"/>
          </a:p>
          <a:p>
            <a:pPr algn="just"/>
            <a:r>
              <a:rPr lang="pt-BR" sz="1500" dirty="0"/>
              <a:t>A ALWAYS ON DIGITAL assegura aos titulares de dados que o seu processo de tratamento de dados atende integralmente os termos da Lei nº 13.709/2018.</a:t>
            </a:r>
          </a:p>
          <a:p>
            <a:pPr algn="just"/>
            <a:endParaRPr lang="pt-BR" sz="1500" dirty="0"/>
          </a:p>
          <a:p>
            <a:pPr algn="just"/>
            <a:r>
              <a:rPr lang="pt-BR" sz="1500" dirty="0"/>
              <a:t>Assim, oferece ao titular dedados, um canal de comunicação direto com nosso DPO, a fim de que você possa exercer seus direitos, tais como solicitação de informações sobre dados tratados, revogação de consentimento etc.</a:t>
            </a:r>
          </a:p>
          <a:p>
            <a:pPr algn="just"/>
            <a:endParaRPr lang="pt-BR" sz="1500" dirty="0"/>
          </a:p>
          <a:p>
            <a:pPr algn="just"/>
            <a:r>
              <a:rPr lang="pt-BR" sz="1500" dirty="0"/>
              <a:t>Com o objetivo de facilitar o procedimento de comunicação disponibiliza o canal de exercício de direitos, bastando clicar no ícone abaixo</a:t>
            </a:r>
          </a:p>
          <a:p>
            <a:pPr algn="just"/>
            <a:endParaRPr lang="pt-BR" sz="1500" dirty="0"/>
          </a:p>
          <a:p>
            <a:pPr algn="ctr"/>
            <a:endParaRPr lang="pt-BR" sz="1300" dirty="0">
              <a:solidFill>
                <a:schemeClr val="bg1"/>
              </a:solidFill>
            </a:endParaRPr>
          </a:p>
        </p:txBody>
      </p:sp>
      <p:sp>
        <p:nvSpPr>
          <p:cNvPr id="3" name="Retângulo: Cantos Arredondados 2">
            <a:extLst>
              <a:ext uri="{FF2B5EF4-FFF2-40B4-BE49-F238E27FC236}">
                <a16:creationId xmlns:a16="http://schemas.microsoft.com/office/drawing/2014/main" id="{EA771EC7-5DB5-D838-E4E1-27F05D6A6EA3}"/>
              </a:ext>
            </a:extLst>
          </p:cNvPr>
          <p:cNvSpPr/>
          <p:nvPr/>
        </p:nvSpPr>
        <p:spPr>
          <a:xfrm>
            <a:off x="5356078" y="5141912"/>
            <a:ext cx="3423692" cy="864304"/>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MANDE SUA SOLICITAÇÃO</a:t>
            </a:r>
          </a:p>
        </p:txBody>
      </p:sp>
      <p:pic>
        <p:nvPicPr>
          <p:cNvPr id="4" name="Gráfico 3" descr="Cursor com preenchimento sólido">
            <a:extLst>
              <a:ext uri="{FF2B5EF4-FFF2-40B4-BE49-F238E27FC236}">
                <a16:creationId xmlns:a16="http://schemas.microsoft.com/office/drawing/2014/main" id="{616E861F-A936-986A-F05A-13D141659A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27036" y="5459043"/>
            <a:ext cx="914400" cy="914400"/>
          </a:xfrm>
          <a:prstGeom prst="rect">
            <a:avLst/>
          </a:prstGeom>
        </p:spPr>
      </p:pic>
    </p:spTree>
    <p:extLst>
      <p:ext uri="{BB962C8B-B14F-4D97-AF65-F5344CB8AC3E}">
        <p14:creationId xmlns:p14="http://schemas.microsoft.com/office/powerpoint/2010/main" val="1008724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D61FD-8018-CA3B-A46E-E42D461AA2FC}"/>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9F63A2E1-190D-3B5F-914C-9A76CAD2E804}"/>
              </a:ext>
            </a:extLst>
          </p:cNvPr>
          <p:cNvPicPr>
            <a:picLocks noChangeAspect="1"/>
          </p:cNvPicPr>
          <p:nvPr/>
        </p:nvPicPr>
        <p:blipFill>
          <a:blip r:embed="rId2"/>
          <a:stretch>
            <a:fillRect/>
          </a:stretch>
        </p:blipFill>
        <p:spPr>
          <a:xfrm>
            <a:off x="-338085" y="0"/>
            <a:ext cx="12868170" cy="6858000"/>
          </a:xfrm>
          <a:prstGeom prst="rect">
            <a:avLst/>
          </a:prstGeom>
        </p:spPr>
      </p:pic>
      <p:sp>
        <p:nvSpPr>
          <p:cNvPr id="6" name="Retângulo: Cantos Arredondados 5">
            <a:extLst>
              <a:ext uri="{FF2B5EF4-FFF2-40B4-BE49-F238E27FC236}">
                <a16:creationId xmlns:a16="http://schemas.microsoft.com/office/drawing/2014/main" id="{FA62B16B-1679-5D1B-744A-559EA1D16A2E}"/>
              </a:ext>
            </a:extLst>
          </p:cNvPr>
          <p:cNvSpPr/>
          <p:nvPr/>
        </p:nvSpPr>
        <p:spPr>
          <a:xfrm>
            <a:off x="1875295" y="970131"/>
            <a:ext cx="9531457" cy="51770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000" dirty="0">
                <a:solidFill>
                  <a:schemeClr val="bg1"/>
                </a:solidFill>
              </a:rPr>
              <a:t>Portal de Privacidade</a:t>
            </a:r>
          </a:p>
        </p:txBody>
      </p:sp>
      <p:pic>
        <p:nvPicPr>
          <p:cNvPr id="4" name="Gráfico 3" descr="Cursor com preenchimento sólido">
            <a:extLst>
              <a:ext uri="{FF2B5EF4-FFF2-40B4-BE49-F238E27FC236}">
                <a16:creationId xmlns:a16="http://schemas.microsoft.com/office/drawing/2014/main" id="{1F789E76-C93A-3F48-E40D-0098EB5C47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02855" y="2759817"/>
            <a:ext cx="914400" cy="914400"/>
          </a:xfrm>
          <a:prstGeom prst="rect">
            <a:avLst/>
          </a:prstGeom>
        </p:spPr>
      </p:pic>
      <p:sp>
        <p:nvSpPr>
          <p:cNvPr id="2" name="Retângulo 1">
            <a:extLst>
              <a:ext uri="{FF2B5EF4-FFF2-40B4-BE49-F238E27FC236}">
                <a16:creationId xmlns:a16="http://schemas.microsoft.com/office/drawing/2014/main" id="{E4522D17-CDAB-25F8-2770-D975BFA0AC74}"/>
              </a:ext>
            </a:extLst>
          </p:cNvPr>
          <p:cNvSpPr/>
          <p:nvPr/>
        </p:nvSpPr>
        <p:spPr>
          <a:xfrm>
            <a:off x="6359473" y="1715427"/>
            <a:ext cx="5047279" cy="3384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dirty="0">
                <a:solidFill>
                  <a:schemeClr val="tx1"/>
                </a:solidFill>
              </a:rPr>
              <a:t>Nome: </a:t>
            </a:r>
            <a:r>
              <a:rPr lang="pt-BR" dirty="0"/>
              <a:t>:</a:t>
            </a:r>
          </a:p>
        </p:txBody>
      </p:sp>
      <p:sp>
        <p:nvSpPr>
          <p:cNvPr id="7" name="Retângulo 6">
            <a:extLst>
              <a:ext uri="{FF2B5EF4-FFF2-40B4-BE49-F238E27FC236}">
                <a16:creationId xmlns:a16="http://schemas.microsoft.com/office/drawing/2014/main" id="{6EF8771F-45A1-118C-D189-A5A7174E6FD8}"/>
              </a:ext>
            </a:extLst>
          </p:cNvPr>
          <p:cNvSpPr/>
          <p:nvPr/>
        </p:nvSpPr>
        <p:spPr>
          <a:xfrm>
            <a:off x="6359472" y="2392369"/>
            <a:ext cx="5047279" cy="3384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dirty="0">
                <a:solidFill>
                  <a:schemeClr val="tx1"/>
                </a:solidFill>
              </a:rPr>
              <a:t>E-mail: </a:t>
            </a:r>
            <a:r>
              <a:rPr lang="pt-BR" dirty="0"/>
              <a:t>:</a:t>
            </a:r>
          </a:p>
        </p:txBody>
      </p:sp>
      <p:sp>
        <p:nvSpPr>
          <p:cNvPr id="8" name="Retângulo 7">
            <a:extLst>
              <a:ext uri="{FF2B5EF4-FFF2-40B4-BE49-F238E27FC236}">
                <a16:creationId xmlns:a16="http://schemas.microsoft.com/office/drawing/2014/main" id="{D3856B18-0261-AE1D-17D0-2FD8EF000128}"/>
              </a:ext>
            </a:extLst>
          </p:cNvPr>
          <p:cNvSpPr/>
          <p:nvPr/>
        </p:nvSpPr>
        <p:spPr>
          <a:xfrm>
            <a:off x="6359472" y="2744035"/>
            <a:ext cx="5047279" cy="22917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pt-BR" dirty="0">
                <a:solidFill>
                  <a:schemeClr val="tx1"/>
                </a:solidFill>
              </a:rPr>
              <a:t>Mensagem</a:t>
            </a:r>
            <a:r>
              <a:rPr lang="pt-BR" dirty="0"/>
              <a:t>:</a:t>
            </a:r>
          </a:p>
        </p:txBody>
      </p:sp>
      <p:sp>
        <p:nvSpPr>
          <p:cNvPr id="13" name="Retângulo 12">
            <a:extLst>
              <a:ext uri="{FF2B5EF4-FFF2-40B4-BE49-F238E27FC236}">
                <a16:creationId xmlns:a16="http://schemas.microsoft.com/office/drawing/2014/main" id="{1B574E25-0503-05B9-A2A2-024AC13867E1}"/>
              </a:ext>
            </a:extLst>
          </p:cNvPr>
          <p:cNvSpPr/>
          <p:nvPr/>
        </p:nvSpPr>
        <p:spPr>
          <a:xfrm>
            <a:off x="617349" y="1694857"/>
            <a:ext cx="4060555" cy="3384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pt-BR" dirty="0">
                <a:solidFill>
                  <a:schemeClr val="tx1"/>
                </a:solidFill>
              </a:rPr>
              <a:t>Fale sobre você</a:t>
            </a:r>
            <a:r>
              <a:rPr lang="pt-BR" dirty="0"/>
              <a:t>:</a:t>
            </a:r>
          </a:p>
        </p:txBody>
      </p:sp>
      <p:sp>
        <p:nvSpPr>
          <p:cNvPr id="14" name="Retângulo 13">
            <a:extLst>
              <a:ext uri="{FF2B5EF4-FFF2-40B4-BE49-F238E27FC236}">
                <a16:creationId xmlns:a16="http://schemas.microsoft.com/office/drawing/2014/main" id="{D4FB1E6E-9ACA-E89F-B998-694EBE7F71D2}"/>
              </a:ext>
            </a:extLst>
          </p:cNvPr>
          <p:cNvSpPr/>
          <p:nvPr/>
        </p:nvSpPr>
        <p:spPr>
          <a:xfrm>
            <a:off x="617349" y="3844427"/>
            <a:ext cx="4060555" cy="3384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pt-BR" dirty="0">
                <a:solidFill>
                  <a:schemeClr val="tx1"/>
                </a:solidFill>
              </a:rPr>
              <a:t>Sobre o que deseja conversar?</a:t>
            </a:r>
            <a:r>
              <a:rPr lang="pt-BR" dirty="0"/>
              <a:t>:</a:t>
            </a:r>
          </a:p>
        </p:txBody>
      </p:sp>
      <p:sp>
        <p:nvSpPr>
          <p:cNvPr id="15" name="Retângulo 14">
            <a:extLst>
              <a:ext uri="{FF2B5EF4-FFF2-40B4-BE49-F238E27FC236}">
                <a16:creationId xmlns:a16="http://schemas.microsoft.com/office/drawing/2014/main" id="{E7C0DB5F-E83E-0EDC-7BE7-CAA206A5C37A}"/>
              </a:ext>
            </a:extLst>
          </p:cNvPr>
          <p:cNvSpPr/>
          <p:nvPr/>
        </p:nvSpPr>
        <p:spPr>
          <a:xfrm>
            <a:off x="617348" y="2001515"/>
            <a:ext cx="4060555" cy="16477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pt-BR" dirty="0">
                <a:solidFill>
                  <a:schemeClr val="tx1"/>
                </a:solidFill>
              </a:rPr>
              <a:t>Titular de dados</a:t>
            </a:r>
          </a:p>
          <a:p>
            <a:r>
              <a:rPr lang="pt-BR" dirty="0">
                <a:solidFill>
                  <a:schemeClr val="tx1"/>
                </a:solidFill>
              </a:rPr>
              <a:t>ANPD</a:t>
            </a:r>
          </a:p>
          <a:p>
            <a:r>
              <a:rPr lang="pt-BR" dirty="0">
                <a:solidFill>
                  <a:schemeClr val="tx1"/>
                </a:solidFill>
              </a:rPr>
              <a:t>Órgão Público</a:t>
            </a:r>
          </a:p>
          <a:p>
            <a:r>
              <a:rPr lang="pt-BR" dirty="0">
                <a:solidFill>
                  <a:schemeClr val="tx1"/>
                </a:solidFill>
              </a:rPr>
              <a:t>Colaborador</a:t>
            </a:r>
          </a:p>
          <a:p>
            <a:r>
              <a:rPr lang="pt-BR" dirty="0">
                <a:solidFill>
                  <a:schemeClr val="tx1"/>
                </a:solidFill>
              </a:rPr>
              <a:t>Doador</a:t>
            </a:r>
            <a:r>
              <a:rPr lang="pt-BR" dirty="0"/>
              <a:t>:</a:t>
            </a:r>
          </a:p>
        </p:txBody>
      </p:sp>
      <p:sp>
        <p:nvSpPr>
          <p:cNvPr id="16" name="Retângulo 15">
            <a:extLst>
              <a:ext uri="{FF2B5EF4-FFF2-40B4-BE49-F238E27FC236}">
                <a16:creationId xmlns:a16="http://schemas.microsoft.com/office/drawing/2014/main" id="{367972E5-619C-4CCD-9DB5-45ED506CCDCD}"/>
              </a:ext>
            </a:extLst>
          </p:cNvPr>
          <p:cNvSpPr/>
          <p:nvPr/>
        </p:nvSpPr>
        <p:spPr>
          <a:xfrm>
            <a:off x="617347" y="4162938"/>
            <a:ext cx="4060555" cy="16477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pt-BR" dirty="0">
                <a:solidFill>
                  <a:schemeClr val="tx1"/>
                </a:solidFill>
              </a:rPr>
              <a:t>Solicitar informações sobre dados</a:t>
            </a:r>
          </a:p>
          <a:p>
            <a:r>
              <a:rPr lang="pt-BR" dirty="0">
                <a:solidFill>
                  <a:schemeClr val="tx1"/>
                </a:solidFill>
              </a:rPr>
              <a:t>Solicitar cópia de dados</a:t>
            </a:r>
          </a:p>
          <a:p>
            <a:r>
              <a:rPr lang="pt-BR" dirty="0">
                <a:solidFill>
                  <a:schemeClr val="tx1"/>
                </a:solidFill>
              </a:rPr>
              <a:t>Solicitar exclusão de dados</a:t>
            </a:r>
          </a:p>
          <a:p>
            <a:r>
              <a:rPr lang="pt-BR" dirty="0">
                <a:solidFill>
                  <a:schemeClr val="tx1"/>
                </a:solidFill>
              </a:rPr>
              <a:t>Revogar consentimento</a:t>
            </a:r>
          </a:p>
          <a:p>
            <a:r>
              <a:rPr lang="pt-BR" dirty="0">
                <a:solidFill>
                  <a:schemeClr val="tx1"/>
                </a:solidFill>
              </a:rPr>
              <a:t>Outros</a:t>
            </a:r>
          </a:p>
        </p:txBody>
      </p:sp>
      <p:sp>
        <p:nvSpPr>
          <p:cNvPr id="17" name="Retângulo 16">
            <a:extLst>
              <a:ext uri="{FF2B5EF4-FFF2-40B4-BE49-F238E27FC236}">
                <a16:creationId xmlns:a16="http://schemas.microsoft.com/office/drawing/2014/main" id="{D6EF9568-3F0B-E0B5-4612-4CBBF8C95535}"/>
              </a:ext>
            </a:extLst>
          </p:cNvPr>
          <p:cNvSpPr/>
          <p:nvPr/>
        </p:nvSpPr>
        <p:spPr>
          <a:xfrm>
            <a:off x="6359472" y="2053898"/>
            <a:ext cx="5047279" cy="3384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dirty="0">
                <a:solidFill>
                  <a:schemeClr val="tx1"/>
                </a:solidFill>
              </a:rPr>
              <a:t>CPF/CNPJ: </a:t>
            </a:r>
            <a:r>
              <a:rPr lang="pt-BR" dirty="0"/>
              <a:t>:</a:t>
            </a:r>
          </a:p>
        </p:txBody>
      </p:sp>
      <p:sp>
        <p:nvSpPr>
          <p:cNvPr id="18" name="Retângulo 17">
            <a:extLst>
              <a:ext uri="{FF2B5EF4-FFF2-40B4-BE49-F238E27FC236}">
                <a16:creationId xmlns:a16="http://schemas.microsoft.com/office/drawing/2014/main" id="{0144B61B-BA6E-7393-A656-32CEB3E3F40C}"/>
              </a:ext>
            </a:extLst>
          </p:cNvPr>
          <p:cNvSpPr/>
          <p:nvPr/>
        </p:nvSpPr>
        <p:spPr>
          <a:xfrm>
            <a:off x="6359471" y="5048935"/>
            <a:ext cx="5047279" cy="10897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dirty="0">
                <a:solidFill>
                  <a:schemeClr val="tx1"/>
                </a:solidFill>
              </a:rPr>
              <a:t>Ao encaminhar essa mensagem você está consentindo que seus dados sejam utilizados pela Always </a:t>
            </a:r>
            <a:r>
              <a:rPr lang="pt-BR" dirty="0" err="1">
                <a:solidFill>
                  <a:schemeClr val="tx1"/>
                </a:solidFill>
              </a:rPr>
              <a:t>On</a:t>
            </a:r>
            <a:r>
              <a:rPr lang="pt-BR" dirty="0">
                <a:solidFill>
                  <a:schemeClr val="tx1"/>
                </a:solidFill>
              </a:rPr>
              <a:t> Digital para responder à sua solicitação </a:t>
            </a:r>
            <a:r>
              <a:rPr lang="pt-BR" dirty="0"/>
              <a:t>:</a:t>
            </a:r>
          </a:p>
        </p:txBody>
      </p:sp>
    </p:spTree>
    <p:extLst>
      <p:ext uri="{BB962C8B-B14F-4D97-AF65-F5344CB8AC3E}">
        <p14:creationId xmlns:p14="http://schemas.microsoft.com/office/powerpoint/2010/main" val="846258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F3B20-84C6-071C-0893-E72E6A6A6CCD}"/>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1801C58D-51EB-7D14-DEDA-8050AD4CE54A}"/>
              </a:ext>
            </a:extLst>
          </p:cNvPr>
          <p:cNvPicPr>
            <a:picLocks noChangeAspect="1"/>
          </p:cNvPicPr>
          <p:nvPr/>
        </p:nvPicPr>
        <p:blipFill>
          <a:blip r:embed="rId2"/>
          <a:stretch>
            <a:fillRect/>
          </a:stretch>
        </p:blipFill>
        <p:spPr>
          <a:xfrm>
            <a:off x="-338085" y="0"/>
            <a:ext cx="12868170" cy="6858000"/>
          </a:xfrm>
          <a:prstGeom prst="rect">
            <a:avLst/>
          </a:prstGeom>
        </p:spPr>
      </p:pic>
      <p:sp>
        <p:nvSpPr>
          <p:cNvPr id="6" name="Retângulo: Cantos Arredondados 5">
            <a:extLst>
              <a:ext uri="{FF2B5EF4-FFF2-40B4-BE49-F238E27FC236}">
                <a16:creationId xmlns:a16="http://schemas.microsoft.com/office/drawing/2014/main" id="{B69E75CA-1994-BE3F-2014-C77360353637}"/>
              </a:ext>
            </a:extLst>
          </p:cNvPr>
          <p:cNvSpPr/>
          <p:nvPr/>
        </p:nvSpPr>
        <p:spPr>
          <a:xfrm>
            <a:off x="1875295" y="970131"/>
            <a:ext cx="9531457" cy="51770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000" dirty="0">
                <a:solidFill>
                  <a:schemeClr val="bg1"/>
                </a:solidFill>
              </a:rPr>
              <a:t>Portal de Privacidade</a:t>
            </a:r>
          </a:p>
        </p:txBody>
      </p:sp>
      <p:sp>
        <p:nvSpPr>
          <p:cNvPr id="9" name="Retângulo: Cantos Arredondados 8">
            <a:extLst>
              <a:ext uri="{FF2B5EF4-FFF2-40B4-BE49-F238E27FC236}">
                <a16:creationId xmlns:a16="http://schemas.microsoft.com/office/drawing/2014/main" id="{E40A0BE4-FBA8-F051-F56E-04CA80BC8CC5}"/>
              </a:ext>
            </a:extLst>
          </p:cNvPr>
          <p:cNvSpPr/>
          <p:nvPr/>
        </p:nvSpPr>
        <p:spPr>
          <a:xfrm>
            <a:off x="0" y="1896581"/>
            <a:ext cx="2391012" cy="50240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POLITICA DE PRIVACIDADE E POLÍTICA DE COOKIES</a:t>
            </a:r>
          </a:p>
        </p:txBody>
      </p:sp>
      <p:sp>
        <p:nvSpPr>
          <p:cNvPr id="10" name="Retângulo: Cantos Arredondados 9">
            <a:extLst>
              <a:ext uri="{FF2B5EF4-FFF2-40B4-BE49-F238E27FC236}">
                <a16:creationId xmlns:a16="http://schemas.microsoft.com/office/drawing/2014/main" id="{7E515EA1-663E-DE87-B6ED-132EFE959A83}"/>
              </a:ext>
            </a:extLst>
          </p:cNvPr>
          <p:cNvSpPr/>
          <p:nvPr/>
        </p:nvSpPr>
        <p:spPr>
          <a:xfrm>
            <a:off x="0" y="2681380"/>
            <a:ext cx="2391012" cy="50240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EXERCÍCIO DE DIREITOS</a:t>
            </a:r>
          </a:p>
        </p:txBody>
      </p:sp>
      <p:sp>
        <p:nvSpPr>
          <p:cNvPr id="11" name="Retângulo: Cantos Arredondados 10">
            <a:extLst>
              <a:ext uri="{FF2B5EF4-FFF2-40B4-BE49-F238E27FC236}">
                <a16:creationId xmlns:a16="http://schemas.microsoft.com/office/drawing/2014/main" id="{B5ED7CDC-5B47-C8B6-671F-D38EEC942CCC}"/>
              </a:ext>
            </a:extLst>
          </p:cNvPr>
          <p:cNvSpPr/>
          <p:nvPr/>
        </p:nvSpPr>
        <p:spPr>
          <a:xfrm>
            <a:off x="0" y="3463312"/>
            <a:ext cx="2391012" cy="1367331"/>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COMUNICAÇÃO DE INCIDENTES OU SOLICITAÇÃO DE ÓRGÃOS PÚBLICOS</a:t>
            </a:r>
          </a:p>
        </p:txBody>
      </p:sp>
      <p:sp>
        <p:nvSpPr>
          <p:cNvPr id="12" name="Retângulo: Cantos Arredondados 11">
            <a:extLst>
              <a:ext uri="{FF2B5EF4-FFF2-40B4-BE49-F238E27FC236}">
                <a16:creationId xmlns:a16="http://schemas.microsoft.com/office/drawing/2014/main" id="{287688DE-935C-ED23-7C06-22776088BC70}"/>
              </a:ext>
            </a:extLst>
          </p:cNvPr>
          <p:cNvSpPr/>
          <p:nvPr/>
        </p:nvSpPr>
        <p:spPr>
          <a:xfrm>
            <a:off x="2729097" y="1684420"/>
            <a:ext cx="8677655" cy="4452909"/>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500" dirty="0"/>
              <a:t>Comunicação de Incidentes ou Solicitação de Órgãos Públicos</a:t>
            </a:r>
          </a:p>
          <a:p>
            <a:pPr algn="just"/>
            <a:endParaRPr lang="pt-BR" sz="1500" dirty="0"/>
          </a:p>
          <a:p>
            <a:pPr algn="just"/>
            <a:r>
              <a:rPr lang="pt-BR" sz="1500" dirty="0"/>
              <a:t>A ALWAYS ON DIGITAL assegura aos titulares de dados que o seu processo de tratamento de dados atende integralmente os termos da Lei nº 13.709/2018.</a:t>
            </a:r>
          </a:p>
          <a:p>
            <a:pPr algn="just"/>
            <a:endParaRPr lang="pt-BR" sz="1500" dirty="0"/>
          </a:p>
          <a:p>
            <a:pPr algn="just"/>
            <a:r>
              <a:rPr lang="pt-BR" sz="1500" dirty="0"/>
              <a:t>Assim, oferece um canal exclusivo de acesso a titulares de dados ou órgãos públicos, para comunicar qualquer suspeita de incidente de segurança ou solicitação de esclarecimentos.</a:t>
            </a:r>
          </a:p>
          <a:p>
            <a:pPr algn="just"/>
            <a:endParaRPr lang="pt-BR" sz="1500" dirty="0"/>
          </a:p>
          <a:p>
            <a:pPr algn="just"/>
            <a:r>
              <a:rPr lang="pt-BR" sz="1500" dirty="0"/>
              <a:t>Com o objetivo de facilitar o procedimento de comunicação disponibiliza o canal de exercício de direitos, bastando clicar no ícone abaixo</a:t>
            </a:r>
          </a:p>
          <a:p>
            <a:pPr algn="just"/>
            <a:endParaRPr lang="pt-BR" sz="1500" dirty="0"/>
          </a:p>
          <a:p>
            <a:pPr algn="ctr"/>
            <a:endParaRPr lang="pt-BR" sz="1300" dirty="0">
              <a:solidFill>
                <a:schemeClr val="bg1"/>
              </a:solidFill>
            </a:endParaRPr>
          </a:p>
        </p:txBody>
      </p:sp>
      <p:sp>
        <p:nvSpPr>
          <p:cNvPr id="3" name="Retângulo: Cantos Arredondados 2">
            <a:extLst>
              <a:ext uri="{FF2B5EF4-FFF2-40B4-BE49-F238E27FC236}">
                <a16:creationId xmlns:a16="http://schemas.microsoft.com/office/drawing/2014/main" id="{0388EF69-8B7A-6638-B1D8-E2B4B19FB370}"/>
              </a:ext>
            </a:extLst>
          </p:cNvPr>
          <p:cNvSpPr/>
          <p:nvPr/>
        </p:nvSpPr>
        <p:spPr>
          <a:xfrm>
            <a:off x="5356078" y="5141912"/>
            <a:ext cx="3423692" cy="864304"/>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MANDE SUA SOLICITAÇÃO</a:t>
            </a:r>
          </a:p>
        </p:txBody>
      </p:sp>
      <p:pic>
        <p:nvPicPr>
          <p:cNvPr id="4" name="Gráfico 3" descr="Cursor com preenchimento sólido">
            <a:extLst>
              <a:ext uri="{FF2B5EF4-FFF2-40B4-BE49-F238E27FC236}">
                <a16:creationId xmlns:a16="http://schemas.microsoft.com/office/drawing/2014/main" id="{CC6DE183-97BC-0BD9-D144-782B0836A6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38278" y="4373443"/>
            <a:ext cx="914400" cy="914400"/>
          </a:xfrm>
          <a:prstGeom prst="rect">
            <a:avLst/>
          </a:prstGeom>
        </p:spPr>
      </p:pic>
    </p:spTree>
    <p:extLst>
      <p:ext uri="{BB962C8B-B14F-4D97-AF65-F5344CB8AC3E}">
        <p14:creationId xmlns:p14="http://schemas.microsoft.com/office/powerpoint/2010/main" val="38986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AB40A-53D2-6A90-1645-074E7F41536D}"/>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CBD69E7E-A2B7-F2AA-7B7F-DAF417DAAD49}"/>
              </a:ext>
            </a:extLst>
          </p:cNvPr>
          <p:cNvPicPr>
            <a:picLocks noChangeAspect="1"/>
          </p:cNvPicPr>
          <p:nvPr/>
        </p:nvPicPr>
        <p:blipFill>
          <a:blip r:embed="rId2"/>
          <a:stretch>
            <a:fillRect/>
          </a:stretch>
        </p:blipFill>
        <p:spPr>
          <a:xfrm>
            <a:off x="-338085" y="0"/>
            <a:ext cx="12868170" cy="6858000"/>
          </a:xfrm>
          <a:prstGeom prst="rect">
            <a:avLst/>
          </a:prstGeom>
        </p:spPr>
      </p:pic>
      <p:sp>
        <p:nvSpPr>
          <p:cNvPr id="2" name="Retângulo: Cantos Arredondados 1">
            <a:extLst>
              <a:ext uri="{FF2B5EF4-FFF2-40B4-BE49-F238E27FC236}">
                <a16:creationId xmlns:a16="http://schemas.microsoft.com/office/drawing/2014/main" id="{68394745-FCB9-F2FA-4084-5685773D09E2}"/>
              </a:ext>
            </a:extLst>
          </p:cNvPr>
          <p:cNvSpPr/>
          <p:nvPr/>
        </p:nvSpPr>
        <p:spPr>
          <a:xfrm>
            <a:off x="2729097" y="1684420"/>
            <a:ext cx="8677655" cy="4452909"/>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500" dirty="0"/>
              <a:t>Comunicação de Incidentes ou Solicitação de Órgãos Públicos</a:t>
            </a:r>
          </a:p>
          <a:p>
            <a:pPr algn="just"/>
            <a:endParaRPr lang="pt-BR" sz="1500" dirty="0"/>
          </a:p>
          <a:p>
            <a:pPr algn="just"/>
            <a:r>
              <a:rPr lang="pt-BR" sz="1500" dirty="0"/>
              <a:t>A ALWAYS ON DIGITAL assegura aos titulares de dados que o seu processo de tratamento de dados atende integralmente os termos da Lei nº 13.709/2018.</a:t>
            </a:r>
          </a:p>
          <a:p>
            <a:pPr algn="just"/>
            <a:endParaRPr lang="pt-BR" sz="1500" dirty="0"/>
          </a:p>
          <a:p>
            <a:pPr algn="just"/>
            <a:r>
              <a:rPr lang="pt-BR" sz="1500" dirty="0"/>
              <a:t>Assim, oferece um canal exclusivo de acesso a titulares de dados ou órgãos públicos, para comunicar qualquer suspeita de incidente de segurança ou solicitação de esclarecimentos.</a:t>
            </a:r>
          </a:p>
          <a:p>
            <a:pPr algn="just"/>
            <a:endParaRPr lang="pt-BR" sz="1500" dirty="0"/>
          </a:p>
          <a:p>
            <a:pPr algn="just"/>
            <a:r>
              <a:rPr lang="pt-BR" sz="1500" dirty="0"/>
              <a:t>Com o objetivo de facilitar o procedimento de comunicação disponibiliza o canal de exercício de direitos, bastando clicar no ícone abaixo</a:t>
            </a:r>
          </a:p>
          <a:p>
            <a:pPr algn="just"/>
            <a:endParaRPr lang="pt-BR" sz="1500" dirty="0"/>
          </a:p>
          <a:p>
            <a:pPr algn="ctr"/>
            <a:endParaRPr lang="pt-BR" sz="1300" dirty="0">
              <a:solidFill>
                <a:schemeClr val="bg1"/>
              </a:solidFill>
            </a:endParaRPr>
          </a:p>
        </p:txBody>
      </p:sp>
      <p:sp>
        <p:nvSpPr>
          <p:cNvPr id="6" name="Retângulo: Cantos Arredondados 5">
            <a:extLst>
              <a:ext uri="{FF2B5EF4-FFF2-40B4-BE49-F238E27FC236}">
                <a16:creationId xmlns:a16="http://schemas.microsoft.com/office/drawing/2014/main" id="{F8B3A743-7C32-3EAB-46D8-69C165C4D529}"/>
              </a:ext>
            </a:extLst>
          </p:cNvPr>
          <p:cNvSpPr/>
          <p:nvPr/>
        </p:nvSpPr>
        <p:spPr>
          <a:xfrm>
            <a:off x="1875295" y="970131"/>
            <a:ext cx="9531457" cy="51770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000" dirty="0">
                <a:solidFill>
                  <a:schemeClr val="bg1"/>
                </a:solidFill>
              </a:rPr>
              <a:t>Portal de Privacidade</a:t>
            </a:r>
          </a:p>
        </p:txBody>
      </p:sp>
      <p:sp>
        <p:nvSpPr>
          <p:cNvPr id="9" name="Retângulo: Cantos Arredondados 8">
            <a:extLst>
              <a:ext uri="{FF2B5EF4-FFF2-40B4-BE49-F238E27FC236}">
                <a16:creationId xmlns:a16="http://schemas.microsoft.com/office/drawing/2014/main" id="{4881ED48-05B7-D337-A777-1867514C39F8}"/>
              </a:ext>
            </a:extLst>
          </p:cNvPr>
          <p:cNvSpPr/>
          <p:nvPr/>
        </p:nvSpPr>
        <p:spPr>
          <a:xfrm>
            <a:off x="0" y="1896581"/>
            <a:ext cx="2391012" cy="50240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POLITICA DE PRIVACIDADE E POLÍTICA DE COOKIES</a:t>
            </a:r>
          </a:p>
        </p:txBody>
      </p:sp>
      <p:sp>
        <p:nvSpPr>
          <p:cNvPr id="10" name="Retângulo: Cantos Arredondados 9">
            <a:extLst>
              <a:ext uri="{FF2B5EF4-FFF2-40B4-BE49-F238E27FC236}">
                <a16:creationId xmlns:a16="http://schemas.microsoft.com/office/drawing/2014/main" id="{EBF2553E-3372-29E6-E085-E705D086CD6B}"/>
              </a:ext>
            </a:extLst>
          </p:cNvPr>
          <p:cNvSpPr/>
          <p:nvPr/>
        </p:nvSpPr>
        <p:spPr>
          <a:xfrm>
            <a:off x="0" y="2681380"/>
            <a:ext cx="2391012" cy="50240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EXERCÍCIO DE DIREITOS</a:t>
            </a:r>
          </a:p>
        </p:txBody>
      </p:sp>
      <p:sp>
        <p:nvSpPr>
          <p:cNvPr id="11" name="Retângulo: Cantos Arredondados 10">
            <a:extLst>
              <a:ext uri="{FF2B5EF4-FFF2-40B4-BE49-F238E27FC236}">
                <a16:creationId xmlns:a16="http://schemas.microsoft.com/office/drawing/2014/main" id="{7BAC245B-84BF-3E3B-555E-379319F98CFA}"/>
              </a:ext>
            </a:extLst>
          </p:cNvPr>
          <p:cNvSpPr/>
          <p:nvPr/>
        </p:nvSpPr>
        <p:spPr>
          <a:xfrm>
            <a:off x="0" y="3463312"/>
            <a:ext cx="2391012" cy="1367331"/>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t>COMUNICAÇÃO DE INCIDENTES OU SOLICITAÇÃO DE ÓRGÃOS PÚBLICOS</a:t>
            </a:r>
          </a:p>
        </p:txBody>
      </p:sp>
      <p:sp>
        <p:nvSpPr>
          <p:cNvPr id="3" name="Retângulo: Cantos Arredondados 2">
            <a:extLst>
              <a:ext uri="{FF2B5EF4-FFF2-40B4-BE49-F238E27FC236}">
                <a16:creationId xmlns:a16="http://schemas.microsoft.com/office/drawing/2014/main" id="{899BCE72-FDDB-1961-4870-1698469C5445}"/>
              </a:ext>
            </a:extLst>
          </p:cNvPr>
          <p:cNvSpPr/>
          <p:nvPr/>
        </p:nvSpPr>
        <p:spPr>
          <a:xfrm>
            <a:off x="5356078" y="5141912"/>
            <a:ext cx="3423692" cy="864304"/>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MANDE SUA SOLICITAÇÃO</a:t>
            </a:r>
          </a:p>
        </p:txBody>
      </p:sp>
      <p:pic>
        <p:nvPicPr>
          <p:cNvPr id="4" name="Gráfico 3" descr="Cursor com preenchimento sólido">
            <a:extLst>
              <a:ext uri="{FF2B5EF4-FFF2-40B4-BE49-F238E27FC236}">
                <a16:creationId xmlns:a16="http://schemas.microsoft.com/office/drawing/2014/main" id="{A7ADE0DF-7EBC-A40E-48CA-88ECA5594D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27036" y="5459043"/>
            <a:ext cx="914400" cy="914400"/>
          </a:xfrm>
          <a:prstGeom prst="rect">
            <a:avLst/>
          </a:prstGeom>
        </p:spPr>
      </p:pic>
    </p:spTree>
    <p:extLst>
      <p:ext uri="{BB962C8B-B14F-4D97-AF65-F5344CB8AC3E}">
        <p14:creationId xmlns:p14="http://schemas.microsoft.com/office/powerpoint/2010/main" val="427273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382C5-8BBF-1884-2559-707F9C9B4B9D}"/>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904F03C0-B204-3724-2BDE-09AF301447A1}"/>
              </a:ext>
            </a:extLst>
          </p:cNvPr>
          <p:cNvPicPr>
            <a:picLocks noChangeAspect="1"/>
          </p:cNvPicPr>
          <p:nvPr/>
        </p:nvPicPr>
        <p:blipFill>
          <a:blip r:embed="rId2"/>
          <a:stretch>
            <a:fillRect/>
          </a:stretch>
        </p:blipFill>
        <p:spPr>
          <a:xfrm>
            <a:off x="-338085" y="0"/>
            <a:ext cx="12868170" cy="6858000"/>
          </a:xfrm>
          <a:prstGeom prst="rect">
            <a:avLst/>
          </a:prstGeom>
        </p:spPr>
      </p:pic>
      <p:sp>
        <p:nvSpPr>
          <p:cNvPr id="6" name="Retângulo: Cantos Arredondados 5">
            <a:extLst>
              <a:ext uri="{FF2B5EF4-FFF2-40B4-BE49-F238E27FC236}">
                <a16:creationId xmlns:a16="http://schemas.microsoft.com/office/drawing/2014/main" id="{E678EF32-8596-432B-C1F9-9D75A75EE9B5}"/>
              </a:ext>
            </a:extLst>
          </p:cNvPr>
          <p:cNvSpPr/>
          <p:nvPr/>
        </p:nvSpPr>
        <p:spPr>
          <a:xfrm>
            <a:off x="1875295" y="970131"/>
            <a:ext cx="9531457" cy="51770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000" dirty="0">
                <a:solidFill>
                  <a:schemeClr val="bg1"/>
                </a:solidFill>
              </a:rPr>
              <a:t>Portal de Privacidade</a:t>
            </a:r>
          </a:p>
        </p:txBody>
      </p:sp>
      <p:pic>
        <p:nvPicPr>
          <p:cNvPr id="4" name="Gráfico 3" descr="Cursor com preenchimento sólido">
            <a:extLst>
              <a:ext uri="{FF2B5EF4-FFF2-40B4-BE49-F238E27FC236}">
                <a16:creationId xmlns:a16="http://schemas.microsoft.com/office/drawing/2014/main" id="{48FFE47D-AFCF-56A5-75F6-2AAB626FEB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02855" y="2759817"/>
            <a:ext cx="914400" cy="914400"/>
          </a:xfrm>
          <a:prstGeom prst="rect">
            <a:avLst/>
          </a:prstGeom>
        </p:spPr>
      </p:pic>
      <p:sp>
        <p:nvSpPr>
          <p:cNvPr id="2" name="Retângulo 1">
            <a:extLst>
              <a:ext uri="{FF2B5EF4-FFF2-40B4-BE49-F238E27FC236}">
                <a16:creationId xmlns:a16="http://schemas.microsoft.com/office/drawing/2014/main" id="{CD31A996-E01B-594F-B3A8-3A5D1F4620D5}"/>
              </a:ext>
            </a:extLst>
          </p:cNvPr>
          <p:cNvSpPr/>
          <p:nvPr/>
        </p:nvSpPr>
        <p:spPr>
          <a:xfrm>
            <a:off x="6359473" y="1715427"/>
            <a:ext cx="5047279" cy="3384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dirty="0">
                <a:solidFill>
                  <a:schemeClr val="tx1"/>
                </a:solidFill>
              </a:rPr>
              <a:t>Nome: </a:t>
            </a:r>
            <a:r>
              <a:rPr lang="pt-BR" dirty="0"/>
              <a:t>:</a:t>
            </a:r>
          </a:p>
        </p:txBody>
      </p:sp>
      <p:sp>
        <p:nvSpPr>
          <p:cNvPr id="7" name="Retângulo 6">
            <a:extLst>
              <a:ext uri="{FF2B5EF4-FFF2-40B4-BE49-F238E27FC236}">
                <a16:creationId xmlns:a16="http://schemas.microsoft.com/office/drawing/2014/main" id="{033F1C63-995D-B496-B13C-14FB801E8682}"/>
              </a:ext>
            </a:extLst>
          </p:cNvPr>
          <p:cNvSpPr/>
          <p:nvPr/>
        </p:nvSpPr>
        <p:spPr>
          <a:xfrm>
            <a:off x="6359472" y="2392369"/>
            <a:ext cx="5047279" cy="3384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dirty="0">
                <a:solidFill>
                  <a:schemeClr val="tx1"/>
                </a:solidFill>
              </a:rPr>
              <a:t>E-mail: </a:t>
            </a:r>
            <a:r>
              <a:rPr lang="pt-BR" dirty="0"/>
              <a:t>:</a:t>
            </a:r>
          </a:p>
        </p:txBody>
      </p:sp>
      <p:sp>
        <p:nvSpPr>
          <p:cNvPr id="8" name="Retângulo 7">
            <a:extLst>
              <a:ext uri="{FF2B5EF4-FFF2-40B4-BE49-F238E27FC236}">
                <a16:creationId xmlns:a16="http://schemas.microsoft.com/office/drawing/2014/main" id="{393CF521-51FF-3E18-D56A-11AB036661C4}"/>
              </a:ext>
            </a:extLst>
          </p:cNvPr>
          <p:cNvSpPr/>
          <p:nvPr/>
        </p:nvSpPr>
        <p:spPr>
          <a:xfrm>
            <a:off x="6359472" y="2744035"/>
            <a:ext cx="5047279" cy="22917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pt-BR" dirty="0">
                <a:solidFill>
                  <a:schemeClr val="tx1"/>
                </a:solidFill>
              </a:rPr>
              <a:t>Mensagem</a:t>
            </a:r>
            <a:r>
              <a:rPr lang="pt-BR" dirty="0"/>
              <a:t>:</a:t>
            </a:r>
          </a:p>
        </p:txBody>
      </p:sp>
      <p:sp>
        <p:nvSpPr>
          <p:cNvPr id="13" name="Retângulo 12">
            <a:extLst>
              <a:ext uri="{FF2B5EF4-FFF2-40B4-BE49-F238E27FC236}">
                <a16:creationId xmlns:a16="http://schemas.microsoft.com/office/drawing/2014/main" id="{4DDDCF0B-3363-BB8A-C84F-F25B1FE8D122}"/>
              </a:ext>
            </a:extLst>
          </p:cNvPr>
          <p:cNvSpPr/>
          <p:nvPr/>
        </p:nvSpPr>
        <p:spPr>
          <a:xfrm>
            <a:off x="617349" y="1694857"/>
            <a:ext cx="4060555" cy="3384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pt-BR" dirty="0">
                <a:solidFill>
                  <a:schemeClr val="tx1"/>
                </a:solidFill>
              </a:rPr>
              <a:t>Fale sobre você</a:t>
            </a:r>
            <a:r>
              <a:rPr lang="pt-BR" dirty="0"/>
              <a:t>:</a:t>
            </a:r>
          </a:p>
        </p:txBody>
      </p:sp>
      <p:sp>
        <p:nvSpPr>
          <p:cNvPr id="14" name="Retângulo 13">
            <a:extLst>
              <a:ext uri="{FF2B5EF4-FFF2-40B4-BE49-F238E27FC236}">
                <a16:creationId xmlns:a16="http://schemas.microsoft.com/office/drawing/2014/main" id="{603A616E-427D-26D6-8619-37C627D90C6B}"/>
              </a:ext>
            </a:extLst>
          </p:cNvPr>
          <p:cNvSpPr/>
          <p:nvPr/>
        </p:nvSpPr>
        <p:spPr>
          <a:xfrm>
            <a:off x="617349" y="3844427"/>
            <a:ext cx="4060555" cy="3384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pt-BR" dirty="0">
                <a:solidFill>
                  <a:schemeClr val="tx1"/>
                </a:solidFill>
              </a:rPr>
              <a:t>Sobre o que deseja conversar?</a:t>
            </a:r>
            <a:r>
              <a:rPr lang="pt-BR" dirty="0"/>
              <a:t>:</a:t>
            </a:r>
          </a:p>
        </p:txBody>
      </p:sp>
      <p:sp>
        <p:nvSpPr>
          <p:cNvPr id="15" name="Retângulo 14">
            <a:extLst>
              <a:ext uri="{FF2B5EF4-FFF2-40B4-BE49-F238E27FC236}">
                <a16:creationId xmlns:a16="http://schemas.microsoft.com/office/drawing/2014/main" id="{7BC1013B-809A-F0CE-1881-887D60B23579}"/>
              </a:ext>
            </a:extLst>
          </p:cNvPr>
          <p:cNvSpPr/>
          <p:nvPr/>
        </p:nvSpPr>
        <p:spPr>
          <a:xfrm>
            <a:off x="617348" y="2001515"/>
            <a:ext cx="4060555" cy="16477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pt-BR" dirty="0">
                <a:solidFill>
                  <a:schemeClr val="tx1"/>
                </a:solidFill>
              </a:rPr>
              <a:t>Titular de dados</a:t>
            </a:r>
          </a:p>
          <a:p>
            <a:r>
              <a:rPr lang="pt-BR" dirty="0">
                <a:solidFill>
                  <a:schemeClr val="tx1"/>
                </a:solidFill>
              </a:rPr>
              <a:t>ANPD</a:t>
            </a:r>
          </a:p>
          <a:p>
            <a:r>
              <a:rPr lang="pt-BR" dirty="0">
                <a:solidFill>
                  <a:schemeClr val="tx1"/>
                </a:solidFill>
              </a:rPr>
              <a:t>Órgão Público</a:t>
            </a:r>
          </a:p>
          <a:p>
            <a:r>
              <a:rPr lang="pt-BR" dirty="0">
                <a:solidFill>
                  <a:schemeClr val="tx1"/>
                </a:solidFill>
              </a:rPr>
              <a:t>Colaborador</a:t>
            </a:r>
          </a:p>
          <a:p>
            <a:r>
              <a:rPr lang="pt-BR" dirty="0">
                <a:solidFill>
                  <a:schemeClr val="tx1"/>
                </a:solidFill>
              </a:rPr>
              <a:t>Doador</a:t>
            </a:r>
            <a:r>
              <a:rPr lang="pt-BR" dirty="0"/>
              <a:t>:</a:t>
            </a:r>
          </a:p>
        </p:txBody>
      </p:sp>
      <p:sp>
        <p:nvSpPr>
          <p:cNvPr id="16" name="Retângulo 15">
            <a:extLst>
              <a:ext uri="{FF2B5EF4-FFF2-40B4-BE49-F238E27FC236}">
                <a16:creationId xmlns:a16="http://schemas.microsoft.com/office/drawing/2014/main" id="{4924699D-B953-E7A5-D92F-48F9A0CFF927}"/>
              </a:ext>
            </a:extLst>
          </p:cNvPr>
          <p:cNvSpPr/>
          <p:nvPr/>
        </p:nvSpPr>
        <p:spPr>
          <a:xfrm>
            <a:off x="617347" y="4162938"/>
            <a:ext cx="4060555" cy="16477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pt-BR" dirty="0">
                <a:solidFill>
                  <a:schemeClr val="tx1"/>
                </a:solidFill>
              </a:rPr>
              <a:t>Denunciar vazamento de dados</a:t>
            </a:r>
          </a:p>
          <a:p>
            <a:r>
              <a:rPr lang="pt-BR" dirty="0">
                <a:solidFill>
                  <a:schemeClr val="tx1"/>
                </a:solidFill>
              </a:rPr>
              <a:t>Informar investigação de vazamento</a:t>
            </a:r>
          </a:p>
          <a:p>
            <a:r>
              <a:rPr lang="pt-BR" dirty="0">
                <a:solidFill>
                  <a:schemeClr val="tx1"/>
                </a:solidFill>
              </a:rPr>
              <a:t>Solicitar informações sobre vazamento</a:t>
            </a:r>
            <a:endParaRPr lang="pt-BR" dirty="0"/>
          </a:p>
        </p:txBody>
      </p:sp>
      <p:sp>
        <p:nvSpPr>
          <p:cNvPr id="17" name="Retângulo 16">
            <a:extLst>
              <a:ext uri="{FF2B5EF4-FFF2-40B4-BE49-F238E27FC236}">
                <a16:creationId xmlns:a16="http://schemas.microsoft.com/office/drawing/2014/main" id="{A3ECE883-5034-2670-7100-D5C3A1463524}"/>
              </a:ext>
            </a:extLst>
          </p:cNvPr>
          <p:cNvSpPr/>
          <p:nvPr/>
        </p:nvSpPr>
        <p:spPr>
          <a:xfrm>
            <a:off x="6359472" y="2053898"/>
            <a:ext cx="5047279" cy="3384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dirty="0">
                <a:solidFill>
                  <a:schemeClr val="tx1"/>
                </a:solidFill>
              </a:rPr>
              <a:t>CPF/CNPJ: </a:t>
            </a:r>
            <a:r>
              <a:rPr lang="pt-BR" dirty="0"/>
              <a:t>:</a:t>
            </a:r>
          </a:p>
        </p:txBody>
      </p:sp>
      <p:sp>
        <p:nvSpPr>
          <p:cNvPr id="18" name="Retângulo 17">
            <a:extLst>
              <a:ext uri="{FF2B5EF4-FFF2-40B4-BE49-F238E27FC236}">
                <a16:creationId xmlns:a16="http://schemas.microsoft.com/office/drawing/2014/main" id="{050F84B0-3401-3E0D-521B-C40CA96F0069}"/>
              </a:ext>
            </a:extLst>
          </p:cNvPr>
          <p:cNvSpPr/>
          <p:nvPr/>
        </p:nvSpPr>
        <p:spPr>
          <a:xfrm>
            <a:off x="6359471" y="5048935"/>
            <a:ext cx="5047279" cy="10897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dirty="0">
                <a:solidFill>
                  <a:schemeClr val="tx1"/>
                </a:solidFill>
              </a:rPr>
              <a:t>Ao encaminhar essa mensagem você está consentindo que seus dados sejam utilizados pela Always </a:t>
            </a:r>
            <a:r>
              <a:rPr lang="pt-BR" dirty="0" err="1">
                <a:solidFill>
                  <a:schemeClr val="tx1"/>
                </a:solidFill>
              </a:rPr>
              <a:t>On</a:t>
            </a:r>
            <a:r>
              <a:rPr lang="pt-BR" dirty="0">
                <a:solidFill>
                  <a:schemeClr val="tx1"/>
                </a:solidFill>
              </a:rPr>
              <a:t> Digital para responder à sua solicitação </a:t>
            </a:r>
            <a:r>
              <a:rPr lang="pt-BR" dirty="0"/>
              <a:t>:</a:t>
            </a:r>
          </a:p>
        </p:txBody>
      </p:sp>
    </p:spTree>
    <p:extLst>
      <p:ext uri="{BB962C8B-B14F-4D97-AF65-F5344CB8AC3E}">
        <p14:creationId xmlns:p14="http://schemas.microsoft.com/office/powerpoint/2010/main" val="2016248853"/>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1143</Words>
  <Application>Microsoft Office PowerPoint</Application>
  <PresentationFormat>Widescreen</PresentationFormat>
  <Paragraphs>117</Paragraphs>
  <Slides>10</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10</vt:i4>
      </vt:variant>
    </vt:vector>
  </HeadingPairs>
  <TitlesOfParts>
    <vt:vector size="14" baseType="lpstr">
      <vt:lpstr>Aptos</vt:lpstr>
      <vt:lpstr>Aptos Display</vt:lpstr>
      <vt:lpstr>Arial</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 Del Cistia Ravani</dc:creator>
  <cp:lastModifiedBy>André Del Cistia Ravani</cp:lastModifiedBy>
  <cp:revision>1</cp:revision>
  <dcterms:created xsi:type="dcterms:W3CDTF">2025-08-28T22:10:40Z</dcterms:created>
  <dcterms:modified xsi:type="dcterms:W3CDTF">2025-08-28T22:55:29Z</dcterms:modified>
</cp:coreProperties>
</file>